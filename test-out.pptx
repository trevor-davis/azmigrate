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617720"/>
            <a:ext cx="12191695" cy="91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Aptos Display"/>
              </a:rPr>
              <a:t>Azure Migrate Interpreted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ADCFC"/>
                </a:solidFill>
                <a:latin typeface="Aptos"/>
              </a:rPr>
              <a:t>Discovery and assessment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Consolidated Infrastructure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377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Power State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1,398 (95.0%)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6654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093976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093976"/>
            <a:ext cx="53241" cy="1371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74 (5.0%)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005840"/>
            <a:ext cx="85953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005840"/>
            <a:ext cx="85953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133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Utilization Summary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127248" y="1426464"/>
          <a:ext cx="8229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331720"/>
                <a:gridCol w="2788920"/>
              </a:tblGrid>
              <a:tr h="228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total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Utilization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Recommended Azure sizing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Assessed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Storage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3.03 PB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48.8% Consumed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1.56 PB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48.5%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Cores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8,821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48.9% CPU Utilization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6,758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23.4%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Memory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44.4 TB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32.9% Memory Utilization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37.3 TB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16.0%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365760" y="31546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3566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82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Fileshare count by host OS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703320"/>
          <a:ext cx="3291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777240"/>
                <a:gridCol w="59436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160520" y="31546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154680"/>
            <a:ext cx="34290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2826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297680" y="3703320"/>
          <a:ext cx="3154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77240"/>
                <a:gridCol w="685800"/>
              </a:tblGrid>
              <a:tr h="259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955279" y="3154680"/>
            <a:ext cx="3520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154680"/>
            <a:ext cx="3520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092440" y="3703320"/>
          <a:ext cx="3246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77240"/>
                <a:gridCol w="685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Discovery-derived fileshare-only server scope with Azure Files readiness, sizing, and monthly cost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41732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servers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1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61488" y="1417320"/>
            <a:ext cx="21488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275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shares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46634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4663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" b="1">
                <a:solidFill>
                  <a:srgbClr val="1E2761"/>
                </a:solidFill>
                <a:latin typeface="Aptos"/>
              </a:rPr>
              <a:t/>
            </a:r>
          </a:p>
        </p:txBody>
      </p:sp>
      <p:pic>
        <p:nvPicPr>
          <p:cNvPr id="15" name="Picture 14" descr="protocol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0"/>
            <a:ext cx="4187952" cy="26060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532120" y="1417320"/>
            <a:ext cx="57607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32120" y="141732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54533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Fileshare-only Azure sizing and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41848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41848" y="1920240"/>
            <a:ext cx="1298448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147.2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1576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1920240"/>
            <a:ext cx="1298448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$11.3K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/ 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9912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9912" y="1920240"/>
            <a:ext cx="1298448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$21.2K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Lift &amp; shift / 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1920240"/>
            <a:ext cx="122529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1920240"/>
            <a:ext cx="1225296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9528" y="21031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$9.9K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9528" y="245059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Monthly delta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32120" y="2971800"/>
            <a:ext cx="57607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32120" y="297180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30998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Azure Files readiness distribution</a:t>
            </a:r>
          </a:p>
        </p:txBody>
      </p:sp>
      <p:pic>
        <p:nvPicPr>
          <p:cNvPr id="38" name="Picture 37" descr="azure-files-readiness-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976" y="3630168"/>
            <a:ext cx="5715000" cy="241401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4632" y="6409944"/>
            <a:ext cx="10030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sheet; Strategy_PaaS_Preferred.xlsx FileShares_to_Azure_Files; Strategy_Lift_and_shift.xlsx Server_to_AzureVM.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Power State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6851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8251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250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990702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2102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4554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5954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750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38405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9805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2257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3657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86108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7508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0996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770632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On (1,398)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2770632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Off (74)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101498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10149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12463"/>
            <a:ext cx="9875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VM power-state counts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68680" y="4187952"/>
          <a:ext cx="548640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554480"/>
              </a:tblGrid>
              <a:tr h="33375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Power state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VM 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 of VMs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1,398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Off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0372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4133087"/>
            <a:ext cx="17830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4133087"/>
            <a:ext cx="1783080" cy="7315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Source: Discovery.xlsx, Data sheet, resourceType = microsoft.offazure/vmwaresites/machines.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Utilization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On-premises footprint compared with recommended Azure sizing; lower is better for capacity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17043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On-premises footprint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1,472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Assessed VMs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48.8% Consumed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48.9% CPU Utilization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32.9% Memory Utilization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621024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Recommended Azure sizing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88620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-48.5% vs on-prem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6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-23.4% vs on-prem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1228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1228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-16.0% vs on-prem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1417320"/>
            <a:ext cx="310896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417320"/>
            <a:ext cx="3108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60" y="154533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On-prem vs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1920240"/>
            <a:ext cx="16459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On-prem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1920240"/>
            <a:ext cx="164592" cy="1097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Azure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23774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Storage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89920" y="264261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298094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98280" y="2980944"/>
            <a:ext cx="84794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953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3070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Cores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357225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98280" y="3910583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098280" y="3910583"/>
            <a:ext cx="126098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89920" y="388315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42367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Memory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89920" y="45018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484022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840224"/>
            <a:ext cx="1382244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9920" y="481279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Source: Strategy_Lift_and_shift.xlsx, Server_to_AzureVM tab. Recommended storage, cores, and memory are compared to on-premises totals.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Fileshares by Host OS Category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fileshares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Windows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743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82496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Linux / RHEL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09928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709928"/>
            <a:ext cx="25106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6824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751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Other / 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02536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2002536"/>
            <a:ext cx="9144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197510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Fileshare count by host operating system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800" y="3584448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Fileshares are resourceType = microsoft.applicationmigration/storagesites/fileshares; OS is joined from host machine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Database Resources by 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database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SQL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13898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184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367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36776"/>
            <a:ext cx="47915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16184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8470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MySQL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653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865376"/>
            <a:ext cx="277404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40" y="18470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0756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PostgreSQL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0939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093976"/>
            <a:ext cx="17653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0756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Database rows identified from database-related values in resourceType.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Non-SQL Database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 footprint, support status, and PaaS readiness for MongoDB, MySQL, and PostgreSQL.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972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097280"/>
            <a:ext cx="53035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252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Discovery footprint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3704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8416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8264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8366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3704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8416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15798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3704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28416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43230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48840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03704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73552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98264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70662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48840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03704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6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8264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8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1097280"/>
            <a:ext cx="53949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1097280"/>
            <a:ext cx="5394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22529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Support status by database type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1572768"/>
            <a:ext cx="1197863" cy="228600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Mainstream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19" y="1572768"/>
            <a:ext cx="1197863" cy="2286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Out of support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66959" y="1572768"/>
            <a:ext cx="1197863" cy="22860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188366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79" y="184708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32519" y="184708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59" y="184708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215798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8079" y="212140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2519" y="212140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66959" y="212140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1268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43230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39572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32519" y="239572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7824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66959" y="239572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1268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27066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98079" y="2670048"/>
            <a:ext cx="1197863" cy="228600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4380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19" y="2670048"/>
            <a:ext cx="1197863" cy="2286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7824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59" y="2670048"/>
            <a:ext cx="1197863" cy="22860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1268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4360" y="3154680"/>
            <a:ext cx="109728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360" y="3154680"/>
            <a:ext cx="10972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" y="328269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PaaS readiness by database 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48840" y="3675887"/>
            <a:ext cx="2057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80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79392" y="3675887"/>
            <a:ext cx="2057400" cy="384048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70831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9944" y="3675887"/>
            <a:ext cx="2057400" cy="384048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01383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40496" y="3675887"/>
            <a:ext cx="2057400" cy="38404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31936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1605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48840" y="4114800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40280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79392" y="4114800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70831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944" y="4114800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01383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40496" y="4114800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31936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4599431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148840" y="4553712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40280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279392" y="4553712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70831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09944" y="4553712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01383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540496" y="4553712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631936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8680" y="5038343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148840" y="4992623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40280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279392" y="4992623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70831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409944" y="4992623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01383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540496" y="4992623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631936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8680" y="5477255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148840" y="5431536"/>
            <a:ext cx="2057400" cy="384048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40280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79392" y="5431536"/>
            <a:ext cx="2057400" cy="384048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70831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09944" y="5431536"/>
            <a:ext cx="2057400" cy="384048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01383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37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40496" y="5431536"/>
            <a:ext cx="2057400" cy="38404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31936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 for instances, servers, versions, and directSupportStatus; Strategy_PaaS_Preferred.xlsx for PaaS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SQL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Server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914400"/>
            <a:ext cx="219456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Servers running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6636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Instances per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27632"/>
            <a:ext cx="11247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62763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755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Lift &amp; Shift vs SQL MI (where ready) + Lift &amp; Shift remainder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100% Lift &amp;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$80.7K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$968,154/yr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1947672"/>
            <a:ext cx="35661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SQL MI (where ready) + Lift &amp; Shift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$156.7K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$1,879,978/yr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9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Yearly Savings Using SQL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DC2626"/>
                </a:solidFill>
                <a:latin typeface="Aptos"/>
              </a:rPr>
              <a:t>-$911,824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-$75,985 per month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724912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272491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2852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SQL Server Licensing — owned vs. need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0883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883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709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C2626"/>
                </a:solidFill>
                <a:latin typeface="Aptos"/>
              </a:rPr>
              <a:t>-25.0%  deficit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506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9652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9652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9652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55864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55864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207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207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28B22"/>
                </a:solidFill>
                <a:latin typeface="Aptos"/>
              </a:rPr>
              <a:t>+50.0%  surplus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886200"/>
            <a:ext cx="5852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3886200"/>
            <a:ext cx="5852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014215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Server versions by support status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4251960"/>
            <a:ext cx="146304" cy="10058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696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Mainstream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03120" y="4251960"/>
            <a:ext cx="146304" cy="100584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428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Extended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251960"/>
            <a:ext cx="146304" cy="1005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Out of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251960"/>
            <a:ext cx="146304" cy="10058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92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45720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94959" y="45720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75488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479145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3120" y="4791456"/>
            <a:ext cx="1608437" cy="914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59" y="475488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49377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497433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03120" y="4974336"/>
            <a:ext cx="1520704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94959" y="49377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12064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03120" y="515721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03120" y="5157216"/>
            <a:ext cx="672619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59" y="512064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530352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17.0.1000.7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03120" y="534009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03120" y="5340096"/>
            <a:ext cx="233954" cy="9144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59" y="530352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54864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55229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03120" y="5522976"/>
            <a:ext cx="87732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94959" y="54864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92240" y="388620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492240" y="3886200"/>
            <a:ext cx="5257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29400" y="4014215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Readiness by Target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75120" y="4251960"/>
            <a:ext cx="146304" cy="10058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58000" y="42062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VM Instances (8)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251960"/>
            <a:ext cx="146304" cy="1005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26880" y="42062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MI Instances (244)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858000" y="5718265"/>
            <a:ext cx="461772" cy="4245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35634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56348" y="5654584"/>
            <a:ext cx="461772" cy="106135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84848" y="5535385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3196" y="5471704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9244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9244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9078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9078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928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1763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55279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Not Ready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2688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32688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5372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52076" y="4389120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8972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 w/</a:t>
            </a:r>
            <a:br/>
            <a:r>
              <a:t>Conditions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56132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6132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05966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5966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48816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98651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2416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(SQL instances &amp; versions); Strategy_PaaS_Preferred.xlsx SQLinstance_to_AzureSQLVM (AZURE_SQL_VM_READINESS + AZURE_SQL_VM_COMPUTE/STORAGE_MONTHLY_COST_USD) and SQLinstance_to_AzureSQLMI (AZURE_SQL_MI_READINESS + AZURE_SQL_MI_COMPUTE/STORAGE_MONTHLY_COST_USD); Strategy_Lift_and_shift.xlsx Server_to_AzureVM (TOTAL_MONTHLY_COST_USD for servers in either SQL sheet, deduplicated).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WebApp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 web application footprint, support status, and AKS readiness by web app type.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37947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37947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52144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WebApp type distribution</a:t>
            </a:r>
          </a:p>
        </p:txBody>
      </p:sp>
      <p:pic>
        <p:nvPicPr>
          <p:cNvPr id="7" name="Picture 6" descr="webapp-type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53312"/>
            <a:ext cx="3474720" cy="18470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26280" y="1024128"/>
            <a:ext cx="70866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024128"/>
            <a:ext cx="70866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152144"/>
            <a:ext cx="6812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WebApps and hosting servers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73168" y="1627632"/>
          <a:ext cx="649223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874519"/>
                <a:gridCol w="201168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Unique servers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681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683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75887"/>
            <a:ext cx="544068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75887"/>
            <a:ext cx="54406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directSupportStatus by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2628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IIS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535424"/>
            <a:ext cx="2737682" cy="164592"/>
          </a:xfrm>
          <a:prstGeom prst="rect">
            <a:avLst/>
          </a:prstGeom>
          <a:solidFill>
            <a:srgbClr val="CEE5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6231" y="4539996"/>
            <a:ext cx="268281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755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6482" y="4535424"/>
            <a:ext cx="97903" cy="164592"/>
          </a:xfrm>
          <a:prstGeom prst="rect">
            <a:avLst/>
          </a:prstGeom>
          <a:solidFill>
            <a:srgbClr val="F7C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3914" y="4539996"/>
            <a:ext cx="20116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4385" y="4535424"/>
            <a:ext cx="304589" cy="164592"/>
          </a:xfrm>
          <a:prstGeom prst="rect">
            <a:avLst/>
          </a:prstGeom>
          <a:solidFill>
            <a:srgbClr val="E7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1817" y="4539996"/>
            <a:ext cx="249725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9103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Tomcat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4919472"/>
            <a:ext cx="14504" cy="164592"/>
          </a:xfrm>
          <a:prstGeom prst="rect">
            <a:avLst/>
          </a:prstGeom>
          <a:solidFill>
            <a:srgbClr val="CEE5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924044"/>
            <a:ext cx="20116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43304" y="4919472"/>
            <a:ext cx="9144" cy="164592"/>
          </a:xfrm>
          <a:prstGeom prst="rect">
            <a:avLst/>
          </a:prstGeom>
          <a:solidFill>
            <a:srgbClr val="F7C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52448" y="4919472"/>
            <a:ext cx="9144" cy="164592"/>
          </a:xfrm>
          <a:prstGeom prst="rect">
            <a:avLst/>
          </a:prstGeom>
          <a:solidFill>
            <a:srgbClr val="E7E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294376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5303520"/>
            <a:ext cx="2752186" cy="164592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6231" y="5308092"/>
            <a:ext cx="269732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759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0986" y="5303520"/>
            <a:ext cx="97903" cy="16459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8418" y="5308092"/>
            <a:ext cx="20116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78890" y="5303520"/>
            <a:ext cx="304589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6322" y="5308092"/>
            <a:ext cx="249725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84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114800"/>
            <a:ext cx="109728" cy="914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407822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>
                <a:solidFill>
                  <a:srgbClr val="36454F"/>
                </a:solidFill>
                <a:latin typeface="Aptos"/>
              </a:rPr>
              <a:t>Mainstream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20240" y="4114800"/>
            <a:ext cx="109728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75688" y="407822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>
                <a:solidFill>
                  <a:srgbClr val="36454F"/>
                </a:solidFill>
                <a:latin typeface="Aptos"/>
              </a:rPr>
              <a:t>Out of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4114800"/>
            <a:ext cx="109728" cy="9144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18688" y="407822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3675887"/>
            <a:ext cx="544068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3675887"/>
            <a:ext cx="54406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803903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AKS readiness by type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34071" y="4270248"/>
            <a:ext cx="925830" cy="310896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05622" y="4270248"/>
            <a:ext cx="925830" cy="310896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219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7172" y="4270248"/>
            <a:ext cx="925830" cy="310896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1374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48722" y="4270248"/>
            <a:ext cx="925830" cy="31089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8529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3368" y="4727448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IIS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34071" y="4654296"/>
            <a:ext cx="92583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064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05622" y="4654296"/>
            <a:ext cx="92583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4219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77172" y="4654296"/>
            <a:ext cx="925830" cy="310896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1374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402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348722" y="4654296"/>
            <a:ext cx="92583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8529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3368" y="5111496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Tomcat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34071" y="5038344"/>
            <a:ext cx="92583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7064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405622" y="5038344"/>
            <a:ext cx="92583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4219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377172" y="5038344"/>
            <a:ext cx="925830" cy="310896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1374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348722" y="5038344"/>
            <a:ext cx="92583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38529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5495544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34071" y="5422392"/>
            <a:ext cx="925830" cy="310896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7064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405622" y="5422392"/>
            <a:ext cx="925830" cy="310896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4219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377172" y="5422392"/>
            <a:ext cx="925830" cy="310896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1374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402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348722" y="5422392"/>
            <a:ext cx="925830" cy="310896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8529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 for resourceType, parentResourceName, and directSupportStatus; Strategy_PaaS_Preferred.xlsx WebApp_to_AKS for READINESS.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 Applications by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Counted by webapp 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48840" y="1143000"/>
            <a:ext cx="7863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143000"/>
            <a:ext cx="7863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271016"/>
            <a:ext cx="7589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Webapp type distribution</a:t>
            </a:r>
          </a:p>
        </p:txBody>
      </p:sp>
      <p:pic>
        <p:nvPicPr>
          <p:cNvPr id="7" name="Picture 6" descr="webapp-type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627632"/>
            <a:ext cx="6126480" cy="3611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Webapp rows identified from resourceType; duplicate parentResourceName values are counted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