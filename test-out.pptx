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617720"/>
            <a:ext cx="12191695" cy="91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10944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Aptos Display"/>
              </a:rPr>
              <a:t>Azure Migrate Interpreted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CADCFC"/>
                </a:solidFill>
                <a:latin typeface="Aptos"/>
              </a:rPr>
              <a:t>Discovery and assessment summary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Consolidated Infrastructure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23774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237744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VM Power State Chart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Powered 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1490472"/>
            <a:ext cx="1005840" cy="1371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17320" y="1490472"/>
            <a:ext cx="1005840" cy="1371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00784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1,398 (95.0%)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6654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Powered Off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17320" y="2093976"/>
            <a:ext cx="1005840" cy="1371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17320" y="2093976"/>
            <a:ext cx="53241" cy="13716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304288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74 (5.0%)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0360" y="1005840"/>
            <a:ext cx="85953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80360" y="1005840"/>
            <a:ext cx="859536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7520" y="1133856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VM Utilization Summary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127248" y="1426464"/>
          <a:ext cx="822960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920240"/>
                <a:gridCol w="2331720"/>
                <a:gridCol w="2788920"/>
              </a:tblGrid>
              <a:tr h="2286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On-premises total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On-premises Utilization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Recommended Azure sizing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Assessed VMs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1,472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Storage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3.03 PB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48.8% Consumed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6454F"/>
                          </a:solidFill>
                        </a:defRPr>
                      </a:pPr>
                      <a:r>
                        <a:rPr sz="1100">
                          <a:solidFill>
                            <a:srgbClr val="36454F"/>
                          </a:solidFill>
                        </a:rPr>
                        <a:t>1.56 PB (</a:t>
                      </a:r>
                      <a:r>
                        <a:rPr sz="1100" b="1">
                          <a:solidFill>
                            <a:srgbClr val="228B22"/>
                          </a:solidFill>
                        </a:rPr>
                        <a:t>48.5% decrease</a:t>
                      </a:r>
                      <a:r>
                        <a:rPr sz="1100">
                          <a:solidFill>
                            <a:srgbClr val="36454F"/>
                          </a:solidFill>
                        </a:rPr>
                        <a:t>)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Cores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8,821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48.9% CPU Utilization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6454F"/>
                          </a:solidFill>
                        </a:defRPr>
                      </a:pPr>
                      <a:r>
                        <a:rPr sz="1100">
                          <a:solidFill>
                            <a:srgbClr val="36454F"/>
                          </a:solidFill>
                        </a:rPr>
                        <a:t>6,758 (</a:t>
                      </a:r>
                      <a:r>
                        <a:rPr sz="1100" b="1">
                          <a:solidFill>
                            <a:srgbClr val="228B22"/>
                          </a:solidFill>
                        </a:rPr>
                        <a:t>23.4% decrease</a:t>
                      </a:r>
                      <a:r>
                        <a:rPr sz="1100">
                          <a:solidFill>
                            <a:srgbClr val="36454F"/>
                          </a:solidFill>
                        </a:rPr>
                        <a:t>)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Memory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44.4 TB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32.9% Memory Utilization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6454F"/>
                          </a:solidFill>
                        </a:defRPr>
                      </a:pPr>
                      <a:r>
                        <a:rPr sz="1100">
                          <a:solidFill>
                            <a:srgbClr val="36454F"/>
                          </a:solidFill>
                        </a:rPr>
                        <a:t>37.3 TB (</a:t>
                      </a:r>
                      <a:r>
                        <a:rPr sz="1100" b="1">
                          <a:solidFill>
                            <a:srgbClr val="228B22"/>
                          </a:solidFill>
                        </a:rPr>
                        <a:t>16.0% decrease</a:t>
                      </a:r>
                      <a:r>
                        <a:rPr sz="1100">
                          <a:solidFill>
                            <a:srgbClr val="36454F"/>
                          </a:solidFill>
                        </a:rPr>
                        <a:t>)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365760" y="3154680"/>
            <a:ext cx="35661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3154680"/>
            <a:ext cx="356616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2826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Fileshare count by host OS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02920" y="3703320"/>
          <a:ext cx="32918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914400"/>
                <a:gridCol w="777240"/>
                <a:gridCol w="59436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Host OS type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OS category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Fileshares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Windows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Windows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743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99.6%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Linux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RHEL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0.4%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Total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746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100.0%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4160520" y="3154680"/>
            <a:ext cx="34290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60520" y="3154680"/>
            <a:ext cx="342900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7680" y="3282696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Database count by type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297680" y="3703320"/>
          <a:ext cx="31546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777240"/>
                <a:gridCol w="685800"/>
              </a:tblGrid>
              <a:tr h="2590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Database type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Count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SQL Server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252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87.2%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MongoDB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19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6.6%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MySQL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3.8%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PostgreSQL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7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2.4%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Total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289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100.0%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7955279" y="3154680"/>
            <a:ext cx="35204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55279" y="3154680"/>
            <a:ext cx="352044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3282696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Webapp count by type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8092440" y="3703320"/>
          <a:ext cx="3246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777240"/>
                <a:gridCol w="68580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Webapp type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Webapp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IIS Web Applications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866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99.5%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Tomcat Web Applications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0.5%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Total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870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100.0%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Fileshare Readiness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41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Discovery-derived fileshare-only server scope with Azure Files readiness, sizing, and monthly cost comparison.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1417320"/>
            <a:ext cx="21488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75488" y="1417320"/>
            <a:ext cx="214884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691640"/>
            <a:ext cx="183794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1E2761"/>
                </a:solidFill>
                <a:latin typeface="Aptos"/>
              </a:rPr>
              <a:t>68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" y="2167128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36454F"/>
                </a:solidFill>
                <a:latin typeface="Aptos"/>
              </a:rPr>
              <a:t>Fileshare-only servers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1488" y="1417320"/>
            <a:ext cx="21488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61488" y="1417320"/>
            <a:ext cx="2148840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16936" y="1691640"/>
            <a:ext cx="183794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1E2761"/>
                </a:solidFill>
                <a:latin typeface="Aptos"/>
              </a:rPr>
              <a:t>275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16936" y="2167128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36454F"/>
                </a:solidFill>
                <a:latin typeface="Aptos"/>
              </a:rPr>
              <a:t>Fileshare-only shares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71800"/>
            <a:ext cx="466344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971800"/>
            <a:ext cx="466344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09981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" b="1">
                <a:solidFill>
                  <a:srgbClr val="1E2761"/>
                </a:solidFill>
                <a:latin typeface="Aptos"/>
              </a:rPr>
              <a:t/>
            </a:r>
          </a:p>
        </p:txBody>
      </p:sp>
      <p:pic>
        <p:nvPicPr>
          <p:cNvPr id="15" name="Picture 14" descr="protocol-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200400"/>
            <a:ext cx="4187952" cy="260604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532120" y="1417320"/>
            <a:ext cx="576072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32120" y="1417320"/>
            <a:ext cx="576072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154533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E2761"/>
                </a:solidFill>
                <a:latin typeface="Aptos"/>
              </a:rPr>
              <a:t>Fileshare-only Azure sizing and cost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41848" y="1920240"/>
            <a:ext cx="1298448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41848" y="1920240"/>
            <a:ext cx="1298448" cy="54864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1576" y="2103120"/>
            <a:ext cx="10789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2761"/>
                </a:solidFill>
                <a:latin typeface="Aptos"/>
              </a:rPr>
              <a:t>147.2 TB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51576" y="2450592"/>
            <a:ext cx="10789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Azure Files size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40880" y="1920240"/>
            <a:ext cx="1298448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40880" y="1920240"/>
            <a:ext cx="1298448" cy="54864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50608" y="2103120"/>
            <a:ext cx="10789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2761"/>
                </a:solidFill>
                <a:latin typeface="Aptos"/>
              </a:rPr>
              <a:t>$11.3K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0608" y="2450592"/>
            <a:ext cx="10789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Azure Files / mo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39912" y="1920240"/>
            <a:ext cx="1298448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39912" y="1920240"/>
            <a:ext cx="1298448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49640" y="2103120"/>
            <a:ext cx="10789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2761"/>
                </a:solidFill>
                <a:latin typeface="Aptos"/>
              </a:rPr>
              <a:t>$21.2K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2450592"/>
            <a:ext cx="10789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Lift &amp; shift / mo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829800" y="1920240"/>
            <a:ext cx="122529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29800" y="1920240"/>
            <a:ext cx="1225296" cy="54864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39528" y="210312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2761"/>
                </a:solidFill>
                <a:latin typeface="Aptos"/>
              </a:rPr>
              <a:t>$9.9K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39528" y="245059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Monthly delta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532120" y="2971800"/>
            <a:ext cx="576072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532120" y="2971800"/>
            <a:ext cx="576072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0" y="309981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E2761"/>
                </a:solidFill>
                <a:latin typeface="Aptos"/>
              </a:rPr>
              <a:t>Azure Files readiness distribution</a:t>
            </a:r>
          </a:p>
        </p:txBody>
      </p:sp>
      <p:pic>
        <p:nvPicPr>
          <p:cNvPr id="38" name="Picture 37" descr="azure-files-readiness-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2976" y="3630168"/>
            <a:ext cx="5715000" cy="2414016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84632" y="6409944"/>
            <a:ext cx="100309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4748B"/>
                </a:solidFill>
                <a:latin typeface="Aptos"/>
              </a:rPr>
              <a:t>Sources: Discovery.xlsx Data sheet; Strategy_PaaS_Preferred.xlsx FileShares_to_Azure_Files; Strategy_Lift_and_shift.xlsx Server_to_AzureVM.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VM Power State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1143000" y="1417320"/>
            <a:ext cx="9144" cy="1097280"/>
          </a:xfrm>
          <a:prstGeom prst="rect">
            <a:avLst/>
          </a:prstGeom>
          <a:solidFill>
            <a:srgbClr val="DA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79192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Aptos"/>
              </a:rPr>
              <a:t>0</a:t>
            </a:r>
          </a:p>
        </p:txBody>
      </p:sp>
      <p:sp>
        <p:nvSpPr>
          <p:cNvPr id="5" name="Rectangle 4"/>
          <p:cNvSpPr/>
          <p:nvPr/>
        </p:nvSpPr>
        <p:spPr>
          <a:xfrm>
            <a:off x="2566851" y="1417320"/>
            <a:ext cx="9144" cy="1097280"/>
          </a:xfrm>
          <a:prstGeom prst="rect">
            <a:avLst/>
          </a:prstGeom>
          <a:solidFill>
            <a:srgbClr val="DA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38251" y="2679192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Aptos"/>
              </a:rPr>
              <a:t>250</a:t>
            </a:r>
          </a:p>
        </p:txBody>
      </p:sp>
      <p:sp>
        <p:nvSpPr>
          <p:cNvPr id="7" name="Rectangle 6"/>
          <p:cNvSpPr/>
          <p:nvPr/>
        </p:nvSpPr>
        <p:spPr>
          <a:xfrm>
            <a:off x="3990702" y="1417320"/>
            <a:ext cx="9144" cy="1097280"/>
          </a:xfrm>
          <a:prstGeom prst="rect">
            <a:avLst/>
          </a:prstGeom>
          <a:solidFill>
            <a:srgbClr val="DA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62102" y="2679192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Aptos"/>
              </a:rPr>
              <a:t>500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14554" y="1417320"/>
            <a:ext cx="9144" cy="1097280"/>
          </a:xfrm>
          <a:prstGeom prst="rect">
            <a:avLst/>
          </a:prstGeom>
          <a:solidFill>
            <a:srgbClr val="DA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85954" y="2679192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Aptos"/>
              </a:rPr>
              <a:t>750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38405" y="1417320"/>
            <a:ext cx="9144" cy="1097280"/>
          </a:xfrm>
          <a:prstGeom prst="rect">
            <a:avLst/>
          </a:prstGeom>
          <a:solidFill>
            <a:srgbClr val="DA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9805" y="2679192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Aptos"/>
              </a:rPr>
              <a:t>1,000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62257" y="1417320"/>
            <a:ext cx="9144" cy="1097280"/>
          </a:xfrm>
          <a:prstGeom prst="rect">
            <a:avLst/>
          </a:prstGeom>
          <a:solidFill>
            <a:srgbClr val="DA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33657" y="2679192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Aptos"/>
              </a:rPr>
              <a:t>1,250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86108" y="1417320"/>
            <a:ext cx="9144" cy="1097280"/>
          </a:xfrm>
          <a:prstGeom prst="rect">
            <a:avLst/>
          </a:prstGeom>
          <a:solidFill>
            <a:srgbClr val="DA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57508" y="2679192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Aptos"/>
              </a:rPr>
              <a:t>1,500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109960" y="1417320"/>
            <a:ext cx="9144" cy="1097280"/>
          </a:xfrm>
          <a:prstGeom prst="rect">
            <a:avLst/>
          </a:prstGeom>
          <a:solidFill>
            <a:srgbClr val="DA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0" y="2679192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Aptos"/>
              </a:rPr>
              <a:t>1,750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1600200"/>
            <a:ext cx="996696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1600200"/>
            <a:ext cx="9966960" cy="25603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3000" y="2103120"/>
            <a:ext cx="527578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" y="2103120"/>
            <a:ext cx="527578" cy="256032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3400" y="2770632"/>
            <a:ext cx="164592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36454F"/>
                </a:solidFill>
                <a:latin typeface="Aptos"/>
              </a:rPr>
              <a:t>Powered On (1,398)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61888" y="2770632"/>
            <a:ext cx="16916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36454F"/>
                </a:solidFill>
                <a:latin typeface="Aptos"/>
              </a:rPr>
              <a:t>Powered Off (74)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3584448"/>
            <a:ext cx="101498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3584448"/>
            <a:ext cx="1014984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3712463"/>
            <a:ext cx="9875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Aptos"/>
              </a:rPr>
              <a:t>VM power-state counts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868680" y="4187952"/>
          <a:ext cx="5486400" cy="1335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645920"/>
                <a:gridCol w="1554480"/>
              </a:tblGrid>
              <a:tr h="33375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Power state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VM count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Share of VMs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Powered On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1,398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95.0%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Powered Off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74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Total VMs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1,472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100.0%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6903720" y="4133087"/>
            <a:ext cx="17830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03720" y="4133087"/>
            <a:ext cx="178308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59168" y="4407407"/>
            <a:ext cx="14721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1,398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4882896"/>
            <a:ext cx="1472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36454F"/>
                </a:solidFill>
                <a:latin typeface="Aptos"/>
              </a:rPr>
              <a:t>Powered 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23960" y="4133087"/>
            <a:ext cx="17830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23960" y="4133087"/>
            <a:ext cx="1783080" cy="73152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79408" y="4407407"/>
            <a:ext cx="14721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79408" y="4882896"/>
            <a:ext cx="1472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36454F"/>
                </a:solidFill>
                <a:latin typeface="Aptos"/>
              </a:rPr>
              <a:t>Powered Off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327648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Source: Discovery.xlsx, Data sheet, resourceType = microsoft.offazure/vmwaresites/machines.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VM Utilization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41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On-premises footprint compared with recommended Azure sizing; lower is better for capacity change.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170432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Aptos"/>
              </a:rPr>
              <a:t>On-premises footprint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90195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1901952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91640"/>
            <a:ext cx="15910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1,472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167128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6454F"/>
                </a:solidFill>
                <a:latin typeface="Aptos"/>
              </a:rPr>
              <a:t>Assessed VMs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06040" y="1417320"/>
            <a:ext cx="190195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06040" y="1417320"/>
            <a:ext cx="1901952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61488" y="1691640"/>
            <a:ext cx="15910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3.03 PB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1488" y="2167128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6454F"/>
                </a:solidFill>
                <a:latin typeface="Aptos"/>
              </a:rPr>
              <a:t>Storage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2478024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48.8% Consumed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9160" y="1417320"/>
            <a:ext cx="190195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09160" y="1417320"/>
            <a:ext cx="1901952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1691640"/>
            <a:ext cx="15910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8,821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2167128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6454F"/>
                </a:solidFill>
                <a:latin typeface="Aptos"/>
              </a:rPr>
              <a:t>Cores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2478024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48.9% CPU Utilization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12280" y="1417320"/>
            <a:ext cx="190195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12280" y="1417320"/>
            <a:ext cx="1901952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67728" y="1691640"/>
            <a:ext cx="15910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44.4 TB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67728" y="2167128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6454F"/>
                </a:solidFill>
                <a:latin typeface="Aptos"/>
              </a:rPr>
              <a:t>Memory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67728" y="2478024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32.9% Memory Utilization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3621024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Aptos"/>
              </a:rPr>
              <a:t>Recommended Azure sizing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06040" y="3886200"/>
            <a:ext cx="190195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06040" y="3886200"/>
            <a:ext cx="1901952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61488" y="4160520"/>
            <a:ext cx="15910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1.56 PB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61488" y="4636008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6454F"/>
                </a:solidFill>
                <a:latin typeface="Aptos"/>
              </a:rPr>
              <a:t>Storage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61488" y="4946904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-48.5% vs on-prem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09160" y="3886200"/>
            <a:ext cx="190195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709160" y="3886200"/>
            <a:ext cx="1901952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64608" y="4160520"/>
            <a:ext cx="15910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6,758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636008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6454F"/>
                </a:solidFill>
                <a:latin typeface="Aptos"/>
              </a:rPr>
              <a:t>Cores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64608" y="4946904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-23.4% vs on-prem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12280" y="3886200"/>
            <a:ext cx="190195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812280" y="3886200"/>
            <a:ext cx="1901952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60520"/>
            <a:ext cx="15910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37.3 TB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67728" y="4636008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6454F"/>
                </a:solidFill>
                <a:latin typeface="Aptos"/>
              </a:rPr>
              <a:t>Memory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67728" y="4946904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-16.0% vs on-prem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15400" y="1417320"/>
            <a:ext cx="3108960" cy="3886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915400" y="1417320"/>
            <a:ext cx="310896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52560" y="1545336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On-prem vs Azure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98280" y="1920240"/>
            <a:ext cx="164592" cy="10972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08592" y="188366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36454F"/>
                </a:solidFill>
                <a:latin typeface="Aptos"/>
              </a:rPr>
              <a:t>On-prem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241280" y="1920240"/>
            <a:ext cx="164592" cy="10972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51592" y="188366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36454F"/>
                </a:solidFill>
                <a:latin typeface="Aptos"/>
              </a:rPr>
              <a:t>Azure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98280" y="237744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Aptos"/>
              </a:rPr>
              <a:t>Storage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098280" y="2670048"/>
            <a:ext cx="1645920" cy="20116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98280" y="2670048"/>
            <a:ext cx="1645920" cy="20116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89920" y="2642616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3.03 PB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98280" y="2980944"/>
            <a:ext cx="1645920" cy="20116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098280" y="2980944"/>
            <a:ext cx="847942" cy="20116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789920" y="2953512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1.56 PB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98280" y="330708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Aptos"/>
              </a:rPr>
              <a:t>Cores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98280" y="3599688"/>
            <a:ext cx="1645920" cy="20116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098280" y="3599688"/>
            <a:ext cx="1645920" cy="20116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789920" y="3572256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8,821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098280" y="3910583"/>
            <a:ext cx="1645920" cy="20116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098280" y="3910583"/>
            <a:ext cx="1260982" cy="20116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789920" y="3883151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6,758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98280" y="423672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Aptos"/>
              </a:rPr>
              <a:t>Memory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098280" y="4529328"/>
            <a:ext cx="1645920" cy="20116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098280" y="4529328"/>
            <a:ext cx="1645920" cy="20116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789920" y="4501896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44.4 TB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098280" y="4840224"/>
            <a:ext cx="1645920" cy="20116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098280" y="4840224"/>
            <a:ext cx="1382244" cy="20116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789920" y="4812791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37.3 TB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6327648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4748B"/>
                </a:solidFill>
                <a:latin typeface="Aptos"/>
              </a:rPr>
              <a:t>Source: Strategy_Lift_and_shift.xlsx, Server_to_AzureVM tab. Recommended storage, cores, and memory are compared to on-premises totals.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Fileshares by Host OS Category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143000"/>
            <a:ext cx="21488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143000"/>
            <a:ext cx="214884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417320"/>
            <a:ext cx="183794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>
                <a:solidFill>
                  <a:srgbClr val="1E2761"/>
                </a:solidFill>
                <a:latin typeface="Aptos"/>
              </a:rPr>
              <a:t>746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892807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36454F"/>
                </a:solidFill>
                <a:latin typeface="Aptos"/>
              </a:rPr>
              <a:t>Total fileshares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138988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36454F"/>
                </a:solidFill>
                <a:latin typeface="Aptos"/>
              </a:rPr>
              <a:t>Windows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417320"/>
            <a:ext cx="6217920" cy="1371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34840" y="1417320"/>
            <a:ext cx="6217920" cy="1371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0" y="1389888"/>
            <a:ext cx="457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E2761"/>
                </a:solidFill>
                <a:latin typeface="Aptos"/>
              </a:rPr>
              <a:t>743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1682496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36454F"/>
                </a:solidFill>
                <a:latin typeface="Aptos"/>
              </a:rPr>
              <a:t>Linux / RHEL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709928"/>
            <a:ext cx="6217920" cy="1371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709928"/>
            <a:ext cx="25106" cy="1371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0" y="1682496"/>
            <a:ext cx="457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E2761"/>
                </a:solidFill>
                <a:latin typeface="Apto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1975104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36454F"/>
                </a:solidFill>
                <a:latin typeface="Aptos"/>
              </a:rPr>
              <a:t>Other / Unknown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2002536"/>
            <a:ext cx="6217920" cy="1371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34840" y="2002536"/>
            <a:ext cx="9144" cy="1371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0" y="1975104"/>
            <a:ext cx="457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45920" y="2971800"/>
            <a:ext cx="84124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645920" y="2971800"/>
            <a:ext cx="841248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83080" y="3099816"/>
            <a:ext cx="81381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Aptos"/>
              </a:rPr>
              <a:t>Fileshare count by host operating system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828800" y="3584448"/>
          <a:ext cx="80467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103120"/>
                <a:gridCol w="1828800"/>
                <a:gridCol w="182880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Host OS type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OS category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Fileshares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Windows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Windows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743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99.6%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Linux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RHEL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0.4%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Total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746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100.0%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548640" y="6327648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Source: Discovery.xlsx, Data sheet. Fileshares are resourceType = microsoft.applicationmigration/storagesites/fileshares; OS is joined from host machine records.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Database Resources by Type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143000"/>
            <a:ext cx="21488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143000"/>
            <a:ext cx="214884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417320"/>
            <a:ext cx="183794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>
                <a:solidFill>
                  <a:srgbClr val="1E2761"/>
                </a:solidFill>
                <a:latin typeface="Aptos"/>
              </a:rPr>
              <a:t>289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892807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36454F"/>
                </a:solidFill>
                <a:latin typeface="Aptos"/>
              </a:rPr>
              <a:t>Total database resources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1389888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36454F"/>
                </a:solidFill>
                <a:latin typeface="Aptos"/>
              </a:rPr>
              <a:t>SQL Server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08176"/>
            <a:ext cx="6355080" cy="1097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08176"/>
            <a:ext cx="6355080" cy="10972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35640" y="1389888"/>
            <a:ext cx="41148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E2761"/>
                </a:solidFill>
                <a:latin typeface="Aptos"/>
              </a:rPr>
              <a:t>252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1618488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36454F"/>
                </a:solidFill>
                <a:latin typeface="Aptos"/>
              </a:rPr>
              <a:t>MongoDB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636776"/>
            <a:ext cx="6355080" cy="1097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636776"/>
            <a:ext cx="479152" cy="10972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35640" y="1618488"/>
            <a:ext cx="41148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E2761"/>
                </a:solidFill>
                <a:latin typeface="Aptos"/>
              </a:rPr>
              <a:t>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1847088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36454F"/>
                </a:solidFill>
                <a:latin typeface="Aptos"/>
              </a:rPr>
              <a:t>MySQL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1865376"/>
            <a:ext cx="6355080" cy="1097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80" y="1865376"/>
            <a:ext cx="277404" cy="10972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35640" y="1847088"/>
            <a:ext cx="41148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E2761"/>
                </a:solidFill>
                <a:latin typeface="Aptos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2075688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36454F"/>
                </a:solidFill>
                <a:latin typeface="Aptos"/>
              </a:rPr>
              <a:t>PostgreSQL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2093976"/>
            <a:ext cx="6355080" cy="1097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97680" y="2093976"/>
            <a:ext cx="176530" cy="10972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35640" y="2075688"/>
            <a:ext cx="41148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E2761"/>
                </a:solidFill>
                <a:latin typeface="Aptos"/>
              </a:rPr>
              <a:t>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45920" y="2971800"/>
            <a:ext cx="84124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645920" y="2971800"/>
            <a:ext cx="841248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83080" y="3099816"/>
            <a:ext cx="81381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Aptos"/>
              </a:rPr>
              <a:t>Database count by type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828800" y="3584448"/>
          <a:ext cx="78638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828800"/>
                <a:gridCol w="1828800"/>
              </a:tblGrid>
              <a:tr h="2743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Database type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Count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SQL Server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252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87.2%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MongoDB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19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6.6%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MySQL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3.8%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PostgreSQL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7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2.4%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Total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289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100.0%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48640" y="6327648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Source: Discovery.xlsx, Data sheet. Database rows identified from database-related values in resourceType.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Non-SQL Database Readiness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41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Discovery footprint, support status, and PaaS readiness for MongoDB, MySQL, and PostgreSQL.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097280"/>
            <a:ext cx="53035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097280"/>
            <a:ext cx="530352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25295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Discovery footprint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48840" y="1572768"/>
            <a:ext cx="1078992" cy="228600"/>
          </a:xfrm>
          <a:prstGeom prst="round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03704" y="1609344"/>
            <a:ext cx="969264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Instances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3552" y="1572768"/>
            <a:ext cx="1078992" cy="228600"/>
          </a:xfrm>
          <a:prstGeom prst="round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28416" y="1609344"/>
            <a:ext cx="969264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Servers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8264" y="1572768"/>
            <a:ext cx="1078992" cy="228600"/>
          </a:xfrm>
          <a:prstGeom prst="round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609344"/>
            <a:ext cx="969264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Versions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883664"/>
            <a:ext cx="107899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MongoDB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8840" y="1847088"/>
            <a:ext cx="1078992" cy="228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03704" y="188366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19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73552" y="1847088"/>
            <a:ext cx="1078992" cy="228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28416" y="188366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19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98264" y="1847088"/>
            <a:ext cx="1078992" cy="228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3128" y="188366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2157984"/>
            <a:ext cx="107899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MySQL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48840" y="2121408"/>
            <a:ext cx="1078992" cy="228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03704" y="215798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11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73552" y="2121408"/>
            <a:ext cx="1078992" cy="228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28416" y="215798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11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98264" y="2121408"/>
            <a:ext cx="1078992" cy="228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53128" y="215798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432304"/>
            <a:ext cx="107899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PostgreSQL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48840" y="2395728"/>
            <a:ext cx="1078992" cy="228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03704" y="243230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73552" y="2395728"/>
            <a:ext cx="1078992" cy="228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28416" y="243230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7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98264" y="2395728"/>
            <a:ext cx="1078992" cy="228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53128" y="243230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2706624"/>
            <a:ext cx="107899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Total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48840" y="2670048"/>
            <a:ext cx="1078992" cy="228600"/>
          </a:xfrm>
          <a:prstGeom prst="roundRect">
            <a:avLst/>
          </a:prstGeom>
          <a:solidFill>
            <a:srgbClr val="1E276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03704" y="270662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37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73552" y="2670048"/>
            <a:ext cx="1078992" cy="228600"/>
          </a:xfrm>
          <a:prstGeom prst="roundRect">
            <a:avLst/>
          </a:prstGeom>
          <a:solidFill>
            <a:srgbClr val="1E276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28416" y="270662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37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98264" y="2670048"/>
            <a:ext cx="1078992" cy="228600"/>
          </a:xfrm>
          <a:prstGeom prst="roundRect">
            <a:avLst/>
          </a:prstGeom>
          <a:solidFill>
            <a:srgbClr val="1E276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53128" y="270662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18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72200" y="1097280"/>
            <a:ext cx="53949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72200" y="1097280"/>
            <a:ext cx="539496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0" y="1225295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Support status by database type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498079" y="1572768"/>
            <a:ext cx="1197863" cy="228600"/>
          </a:xfrm>
          <a:prstGeom prst="round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43800" y="1618488"/>
            <a:ext cx="1106423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Mainstream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732519" y="1572768"/>
            <a:ext cx="1197863" cy="22860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78240" y="1618488"/>
            <a:ext cx="1106423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Out of support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66959" y="1572768"/>
            <a:ext cx="1197863" cy="228600"/>
          </a:xfrm>
          <a:prstGeom prst="round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012680" y="1618488"/>
            <a:ext cx="1106423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Unknown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1883664"/>
            <a:ext cx="960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MongoDB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79" y="1847088"/>
            <a:ext cx="1197863" cy="228600"/>
          </a:xfrm>
          <a:prstGeom prst="roundRect">
            <a:avLst/>
          </a:prstGeom>
          <a:solidFill>
            <a:srgbClr val="CEE5C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543800" y="188366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10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732519" y="1847088"/>
            <a:ext cx="1197863" cy="228600"/>
          </a:xfrm>
          <a:prstGeom prst="roundRect">
            <a:avLst/>
          </a:prstGeom>
          <a:solidFill>
            <a:srgbClr val="F7CFC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78240" y="188366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4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66959" y="1847088"/>
            <a:ext cx="1197863" cy="228600"/>
          </a:xfrm>
          <a:prstGeom prst="roundRect">
            <a:avLst/>
          </a:prstGeom>
          <a:solidFill>
            <a:srgbClr val="E7EAE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12680" y="188366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0" y="2157984"/>
            <a:ext cx="960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MySQL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498079" y="2121408"/>
            <a:ext cx="1197863" cy="228600"/>
          </a:xfrm>
          <a:prstGeom prst="roundRect">
            <a:avLst/>
          </a:prstGeom>
          <a:solidFill>
            <a:srgbClr val="CEE5C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43800" y="215798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2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732519" y="2121408"/>
            <a:ext cx="1197863" cy="228600"/>
          </a:xfrm>
          <a:prstGeom prst="roundRect">
            <a:avLst/>
          </a:prstGeom>
          <a:solidFill>
            <a:srgbClr val="F7CFC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78240" y="215798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8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66959" y="2121408"/>
            <a:ext cx="1197863" cy="228600"/>
          </a:xfrm>
          <a:prstGeom prst="roundRect">
            <a:avLst/>
          </a:prstGeom>
          <a:solidFill>
            <a:srgbClr val="E7EAE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012680" y="215798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0" y="2432304"/>
            <a:ext cx="960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PostgreSQL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498079" y="2395728"/>
            <a:ext cx="1197863" cy="228600"/>
          </a:xfrm>
          <a:prstGeom prst="roundRect">
            <a:avLst/>
          </a:prstGeom>
          <a:solidFill>
            <a:srgbClr val="CEE5C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543800" y="243230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2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732519" y="2395728"/>
            <a:ext cx="1197863" cy="228600"/>
          </a:xfrm>
          <a:prstGeom prst="roundRect">
            <a:avLst/>
          </a:prstGeom>
          <a:solidFill>
            <a:srgbClr val="F7CFC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78240" y="243230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2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966959" y="2395728"/>
            <a:ext cx="1197863" cy="228600"/>
          </a:xfrm>
          <a:prstGeom prst="roundRect">
            <a:avLst/>
          </a:prstGeom>
          <a:solidFill>
            <a:srgbClr val="E7EAE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012680" y="243230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00800" y="2706624"/>
            <a:ext cx="960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Total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498079" y="2670048"/>
            <a:ext cx="1197863" cy="228600"/>
          </a:xfrm>
          <a:prstGeom prst="roundRect">
            <a:avLst/>
          </a:prstGeom>
          <a:solidFill>
            <a:srgbClr val="228B2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543800" y="270662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14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732519" y="2670048"/>
            <a:ext cx="1197863" cy="2286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778240" y="270662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14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966959" y="2670048"/>
            <a:ext cx="1197863" cy="228600"/>
          </a:xfrm>
          <a:prstGeom prst="roundRect">
            <a:avLst/>
          </a:prstGeom>
          <a:solidFill>
            <a:srgbClr val="94A3B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012680" y="270662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9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94360" y="3154680"/>
            <a:ext cx="109728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94360" y="3154680"/>
            <a:ext cx="1097280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31520" y="3282696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PaaS readiness by database type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148840" y="3675887"/>
            <a:ext cx="2057400" cy="384048"/>
          </a:xfrm>
          <a:prstGeom prst="round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240280" y="3749039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Unknown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279392" y="3675887"/>
            <a:ext cx="2057400" cy="384048"/>
          </a:xfrm>
          <a:prstGeom prst="round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370831" y="3749039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Ready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409944" y="3675887"/>
            <a:ext cx="2057400" cy="384048"/>
          </a:xfrm>
          <a:prstGeom prst="round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501383" y="3749039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2761"/>
                </a:solidFill>
                <a:latin typeface="Aptos"/>
              </a:rPr>
              <a:t>Ready w/ conditions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540496" y="3675887"/>
            <a:ext cx="2057400" cy="384048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631936" y="3749039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Not ready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68680" y="4160520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MongoDB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148840" y="4114800"/>
            <a:ext cx="2057400" cy="384048"/>
          </a:xfrm>
          <a:prstGeom prst="roundRect">
            <a:avLst/>
          </a:prstGeom>
          <a:solidFill>
            <a:srgbClr val="E7EAE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240280" y="4197096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279392" y="4114800"/>
            <a:ext cx="2057400" cy="384048"/>
          </a:xfrm>
          <a:prstGeom prst="roundRect">
            <a:avLst/>
          </a:prstGeom>
          <a:solidFill>
            <a:srgbClr val="CEE5C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370831" y="4197096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409944" y="4114800"/>
            <a:ext cx="2057400" cy="384048"/>
          </a:xfrm>
          <a:prstGeom prst="roundRect">
            <a:avLst/>
          </a:prstGeom>
          <a:solidFill>
            <a:srgbClr val="FAEEC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01383" y="4197096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19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540496" y="4114800"/>
            <a:ext cx="2057400" cy="384048"/>
          </a:xfrm>
          <a:prstGeom prst="roundRect">
            <a:avLst/>
          </a:prstGeom>
          <a:solidFill>
            <a:srgbClr val="F7CFC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631936" y="4197096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68680" y="4599431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MySQL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148840" y="4553712"/>
            <a:ext cx="2057400" cy="384048"/>
          </a:xfrm>
          <a:prstGeom prst="roundRect">
            <a:avLst/>
          </a:prstGeom>
          <a:solidFill>
            <a:srgbClr val="E7EAE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240280" y="4636007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279392" y="4553712"/>
            <a:ext cx="2057400" cy="384048"/>
          </a:xfrm>
          <a:prstGeom prst="roundRect">
            <a:avLst/>
          </a:prstGeom>
          <a:solidFill>
            <a:srgbClr val="CEE5C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370831" y="4636007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409944" y="4553712"/>
            <a:ext cx="2057400" cy="384048"/>
          </a:xfrm>
          <a:prstGeom prst="roundRect">
            <a:avLst/>
          </a:prstGeom>
          <a:solidFill>
            <a:srgbClr val="FAEEC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501383" y="4636007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11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8540496" y="4553712"/>
            <a:ext cx="2057400" cy="384048"/>
          </a:xfrm>
          <a:prstGeom prst="roundRect">
            <a:avLst/>
          </a:prstGeom>
          <a:solidFill>
            <a:srgbClr val="F7CFC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631936" y="4636007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68680" y="5038343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PostgreSQL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148840" y="4992623"/>
            <a:ext cx="2057400" cy="384048"/>
          </a:xfrm>
          <a:prstGeom prst="roundRect">
            <a:avLst/>
          </a:prstGeom>
          <a:solidFill>
            <a:srgbClr val="E7EAE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240280" y="5074919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279392" y="4992623"/>
            <a:ext cx="2057400" cy="384048"/>
          </a:xfrm>
          <a:prstGeom prst="roundRect">
            <a:avLst/>
          </a:prstGeom>
          <a:solidFill>
            <a:srgbClr val="CEE5C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370831" y="5074919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409944" y="4992623"/>
            <a:ext cx="2057400" cy="384048"/>
          </a:xfrm>
          <a:prstGeom prst="roundRect">
            <a:avLst/>
          </a:prstGeom>
          <a:solidFill>
            <a:srgbClr val="FAEEC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501383" y="5074919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7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8540496" y="4992623"/>
            <a:ext cx="2057400" cy="384048"/>
          </a:xfrm>
          <a:prstGeom prst="roundRect">
            <a:avLst/>
          </a:prstGeom>
          <a:solidFill>
            <a:srgbClr val="F7CFC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631936" y="5074919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68680" y="5477255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Total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148840" y="5431536"/>
            <a:ext cx="2057400" cy="384048"/>
          </a:xfrm>
          <a:prstGeom prst="roundRect">
            <a:avLst/>
          </a:prstGeom>
          <a:solidFill>
            <a:srgbClr val="94A3B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240280" y="5513831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4279392" y="5431536"/>
            <a:ext cx="2057400" cy="384048"/>
          </a:xfrm>
          <a:prstGeom prst="roundRect">
            <a:avLst/>
          </a:prstGeom>
          <a:solidFill>
            <a:srgbClr val="228B2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370831" y="5513831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6409944" y="5431536"/>
            <a:ext cx="2057400" cy="384048"/>
          </a:xfrm>
          <a:prstGeom prst="roundRect">
            <a:avLst/>
          </a:prstGeom>
          <a:solidFill>
            <a:srgbClr val="EAB30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501383" y="5513831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37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540496" y="5431536"/>
            <a:ext cx="2057400" cy="384048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631936" y="5513831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48640" y="6327648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4748B"/>
                </a:solidFill>
                <a:latin typeface="Aptos"/>
              </a:rPr>
              <a:t>Sources: Discovery.xlsx Data sheet for instances, servers, versions, and directSupportStatus; Strategy_PaaS_Preferred.xlsx for PaaS readiness.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SQL Readiness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1945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0"/>
            <a:ext cx="2194560" cy="457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648" y="1024128"/>
            <a:ext cx="19751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1E2761"/>
                </a:solidFill>
                <a:latin typeface="Aptos"/>
              </a:rPr>
              <a:t>252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280160"/>
            <a:ext cx="197510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SQL Server Instances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34640" y="914400"/>
            <a:ext cx="21945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834640" y="914400"/>
            <a:ext cx="2194560" cy="457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44368" y="1024128"/>
            <a:ext cx="19751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1E2761"/>
                </a:solidFill>
                <a:latin typeface="Aptos"/>
              </a:rPr>
              <a:t>245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4368" y="1280160"/>
            <a:ext cx="197510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Servers running 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60" y="914400"/>
            <a:ext cx="21945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66360" y="914400"/>
            <a:ext cx="2194560" cy="457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76088" y="1024128"/>
            <a:ext cx="19751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1E2761"/>
                </a:solidFill>
                <a:latin typeface="Aptos"/>
              </a:rPr>
              <a:t>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76088" y="1280160"/>
            <a:ext cx="197510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Instances per server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1627632"/>
            <a:ext cx="112471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1627632"/>
            <a:ext cx="1124712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17556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Aptos"/>
              </a:rPr>
              <a:t>Lift &amp; Shift vs SQL MI (where ready) + Lift &amp; Shift remainder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1947672"/>
            <a:ext cx="35661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1947672"/>
            <a:ext cx="3566160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2020824"/>
            <a:ext cx="327355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100% Lift &amp; Shift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2194560"/>
            <a:ext cx="327355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Aptos"/>
              </a:rPr>
              <a:t>$80.7K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2404872"/>
            <a:ext cx="327355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4748B"/>
                </a:solidFill>
                <a:latin typeface="Aptos"/>
              </a:rPr>
              <a:t>per month   /   $968,154/yr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3400" y="1947672"/>
            <a:ext cx="35661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43400" y="1947672"/>
            <a:ext cx="3566160" cy="457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9704" y="2020824"/>
            <a:ext cx="327355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SQL MI (where ready) + Lift &amp; Shift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9704" y="2194560"/>
            <a:ext cx="327355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Aptos"/>
              </a:rPr>
              <a:t>$156.7K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9704" y="2404872"/>
            <a:ext cx="327355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4748B"/>
                </a:solidFill>
                <a:latin typeface="Aptos"/>
              </a:rPr>
              <a:t>per month   /   $1,879,978/yr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19" y="1947672"/>
            <a:ext cx="35661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19" y="1947672"/>
            <a:ext cx="3566160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023" y="2020824"/>
            <a:ext cx="327355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Yearly Savings Using SQL MI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3023" y="2194560"/>
            <a:ext cx="327355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DC2626"/>
                </a:solidFill>
                <a:latin typeface="Aptos"/>
              </a:rPr>
              <a:t>-$911,824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3023" y="2404872"/>
            <a:ext cx="327355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4748B"/>
                </a:solidFill>
                <a:latin typeface="Aptos"/>
              </a:rPr>
              <a:t>-$75,985 per month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2724912"/>
            <a:ext cx="112471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2724912"/>
            <a:ext cx="1124712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285292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Aptos"/>
              </a:rPr>
              <a:t>SQL Server Licensing — owned vs. need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3090672"/>
            <a:ext cx="541782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4671" y="3118104"/>
            <a:ext cx="50886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SQL Server Standard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1" y="3310128"/>
            <a:ext cx="1696211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Owned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1" y="3447288"/>
            <a:ext cx="169621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00883" y="3310128"/>
            <a:ext cx="1696211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Need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00883" y="3447288"/>
            <a:ext cx="169621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24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97096" y="3310128"/>
            <a:ext cx="1696211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Delta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97096" y="3447288"/>
            <a:ext cx="169621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DC2626"/>
                </a:solidFill>
                <a:latin typeface="Aptos"/>
              </a:rPr>
              <a:t>-25.0%  deficit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5060" y="3090672"/>
            <a:ext cx="541782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59652" y="3118104"/>
            <a:ext cx="50886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SQL Server Enterprise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9652" y="3310128"/>
            <a:ext cx="1696211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Owned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9652" y="3447288"/>
            <a:ext cx="169621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12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55864" y="3310128"/>
            <a:ext cx="1696211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Need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55864" y="3447288"/>
            <a:ext cx="169621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52076" y="3310128"/>
            <a:ext cx="1696211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Delta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52076" y="3447288"/>
            <a:ext cx="169621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28B22"/>
                </a:solidFill>
                <a:latin typeface="Aptos"/>
              </a:rPr>
              <a:t>+50.0%  surplus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3886200"/>
            <a:ext cx="58521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3886200"/>
            <a:ext cx="585216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4014215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SQL Server versions by support status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85800" y="4251960"/>
            <a:ext cx="146304" cy="100584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86968" y="420624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Mainstream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103120" y="4251960"/>
            <a:ext cx="146304" cy="100584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304288" y="420624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Extended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20440" y="4251960"/>
            <a:ext cx="146304" cy="10058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721608" y="420624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Out of support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937760" y="4251960"/>
            <a:ext cx="146304" cy="10058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38928" y="420624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Unknown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080" y="457200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36454F"/>
                </a:solidFill>
                <a:latin typeface="Aptos"/>
              </a:rPr>
              <a:t>SQL Server 2019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103120" y="4608576"/>
            <a:ext cx="3246120" cy="91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103120" y="4608576"/>
            <a:ext cx="3246120" cy="91440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394959" y="4572000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111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" y="475488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36454F"/>
                </a:solidFill>
                <a:latin typeface="Aptos"/>
              </a:rPr>
              <a:t>SQL Server 2022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03120" y="4791456"/>
            <a:ext cx="3246120" cy="91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103120" y="4791456"/>
            <a:ext cx="1608437" cy="91440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394959" y="4754880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55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0080" y="493776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36454F"/>
                </a:solidFill>
                <a:latin typeface="Aptos"/>
              </a:rPr>
              <a:t>SQL Server 2016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103120" y="4974336"/>
            <a:ext cx="3246120" cy="91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103120" y="4974336"/>
            <a:ext cx="1520704" cy="91440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394959" y="4937760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52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0080" y="512064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36454F"/>
                </a:solidFill>
                <a:latin typeface="Aptos"/>
              </a:rPr>
              <a:t>SQL Server 2017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103120" y="5157216"/>
            <a:ext cx="3246120" cy="91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103120" y="5157216"/>
            <a:ext cx="672619" cy="91440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394959" y="5120640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" y="530352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36454F"/>
                </a:solidFill>
                <a:latin typeface="Aptos"/>
              </a:rPr>
              <a:t>17.0.1000.7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103120" y="5340096"/>
            <a:ext cx="3246120" cy="91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103120" y="5340096"/>
            <a:ext cx="233954" cy="9144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394959" y="5303520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0080" y="548640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36454F"/>
                </a:solidFill>
                <a:latin typeface="Aptos"/>
              </a:rPr>
              <a:t>SQL Server 2014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103120" y="5522976"/>
            <a:ext cx="3246120" cy="91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103120" y="5522976"/>
            <a:ext cx="87732" cy="914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394959" y="5486400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3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492240" y="388620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492240" y="3886200"/>
            <a:ext cx="525780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629400" y="4014215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SQL Readiness by Target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675120" y="4251960"/>
            <a:ext cx="146304" cy="100584"/>
          </a:xfrm>
          <a:prstGeom prst="rect">
            <a:avLst/>
          </a:prstGeom>
          <a:solidFill>
            <a:srgbClr val="FF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858000" y="4206240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SQL VM Instances (8)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144000" y="4251960"/>
            <a:ext cx="146304" cy="10058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326880" y="420624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SQL MI Instances (244)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858000" y="4572000"/>
            <a:ext cx="461772" cy="118871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858000" y="5718265"/>
            <a:ext cx="461772" cy="42454"/>
          </a:xfrm>
          <a:prstGeom prst="rect">
            <a:avLst/>
          </a:prstGeom>
          <a:solidFill>
            <a:srgbClr val="FF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356348" y="4572000"/>
            <a:ext cx="461772" cy="118871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356348" y="5654584"/>
            <a:ext cx="461772" cy="106135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784848" y="5535385"/>
            <a:ext cx="60807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E2761"/>
                </a:solidFill>
                <a:latin typeface="Aptos"/>
              </a:rPr>
              <a:t>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83196" y="5471704"/>
            <a:ext cx="60807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E2761"/>
                </a:solidFill>
                <a:latin typeface="Aptos"/>
              </a:rP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720840" y="5797296"/>
            <a:ext cx="1234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36454F"/>
                </a:solidFill>
                <a:latin typeface="Aptos"/>
              </a:rPr>
              <a:t>Ready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092440" y="4572000"/>
            <a:ext cx="461772" cy="118871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092440" y="5742432"/>
            <a:ext cx="461772" cy="18288"/>
          </a:xfrm>
          <a:prstGeom prst="rect">
            <a:avLst/>
          </a:prstGeom>
          <a:solidFill>
            <a:srgbClr val="FF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590788" y="4572000"/>
            <a:ext cx="461772" cy="118871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590788" y="5742432"/>
            <a:ext cx="461772" cy="1828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019288" y="5559552"/>
            <a:ext cx="60807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517636" y="5559552"/>
            <a:ext cx="60807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955279" y="5797296"/>
            <a:ext cx="1234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36454F"/>
                </a:solidFill>
                <a:latin typeface="Aptos"/>
              </a:rPr>
              <a:t>Not Ready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326880" y="4572000"/>
            <a:ext cx="461772" cy="118871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326880" y="5742432"/>
            <a:ext cx="461772" cy="18288"/>
          </a:xfrm>
          <a:prstGeom prst="rect">
            <a:avLst/>
          </a:prstGeom>
          <a:solidFill>
            <a:srgbClr val="FF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825228" y="4572000"/>
            <a:ext cx="461772" cy="118871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825228" y="4572000"/>
            <a:ext cx="461772" cy="1188719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253728" y="5559552"/>
            <a:ext cx="60807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752076" y="4389120"/>
            <a:ext cx="60807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E2761"/>
                </a:solidFill>
                <a:latin typeface="Aptos"/>
              </a:rPr>
              <a:t>224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189720" y="5797296"/>
            <a:ext cx="1234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36454F"/>
                </a:solidFill>
                <a:latin typeface="Aptos"/>
              </a:rPr>
              <a:t>Ready w/</a:t>
            </a:r>
            <a:br/>
            <a:r>
              <a:t>Conditions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0561320" y="4572000"/>
            <a:ext cx="461772" cy="118871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561320" y="5742432"/>
            <a:ext cx="461772" cy="18288"/>
          </a:xfrm>
          <a:prstGeom prst="rect">
            <a:avLst/>
          </a:prstGeom>
          <a:solidFill>
            <a:srgbClr val="FF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1059668" y="4572000"/>
            <a:ext cx="461772" cy="118871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1059668" y="5742432"/>
            <a:ext cx="461772" cy="1828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488168" y="5559552"/>
            <a:ext cx="60807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986516" y="5559552"/>
            <a:ext cx="60807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424160" y="5797296"/>
            <a:ext cx="1234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36454F"/>
                </a:solidFill>
                <a:latin typeface="Aptos"/>
              </a:rPr>
              <a:t>Unknown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8640" y="6327648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4748B"/>
                </a:solidFill>
                <a:latin typeface="Aptos"/>
              </a:rPr>
              <a:t>Sources: Discovery.xlsx Data (SQL instances &amp; versions); Strategy_PaaS_Preferred.xlsx SQLinstance_to_AzureSQLVM (AZURE_SQL_VM_READINESS + AZURE_SQL_VM_COMPUTE/STORAGE_MONTHLY_COST_USD) and SQLinstance_to_AzureSQLMI (AZURE_SQL_MI_READINESS + AZURE_SQL_MI_COMPUTE/STORAGE_MONTHLY_COST_USD); Strategy_Lift_and_shift.xlsx Server_to_AzureVM (TOTAL_MONTHLY_COST_USD for servers in either SQL sheet, deduplicated).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Web Applications by 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41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Counted by webapp rows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143000"/>
            <a:ext cx="21488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143000"/>
            <a:ext cx="214884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417320"/>
            <a:ext cx="183794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>
                <a:solidFill>
                  <a:srgbClr val="1E2761"/>
                </a:solidFill>
                <a:latin typeface="Aptos"/>
              </a:rPr>
              <a:t>870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892807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36454F"/>
                </a:solidFill>
                <a:latin typeface="Aptos"/>
              </a:rPr>
              <a:t>Total webapps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38988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36454F"/>
                </a:solidFill>
                <a:latin typeface="Aptos"/>
              </a:rPr>
              <a:t>IIS Web Applications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709160" y="1417320"/>
            <a:ext cx="5943600" cy="1371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09160" y="1417320"/>
            <a:ext cx="5943600" cy="1371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0" y="1389888"/>
            <a:ext cx="457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E2761"/>
                </a:solidFill>
                <a:latin typeface="Aptos"/>
              </a:rPr>
              <a:t>866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164592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36454F"/>
                </a:solidFill>
                <a:latin typeface="Aptos"/>
              </a:rPr>
              <a:t>Tomcat Web Applications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1673352"/>
            <a:ext cx="5943600" cy="1371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09160" y="1673352"/>
            <a:ext cx="27453" cy="1371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0" y="164592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E2761"/>
                </a:solidFill>
                <a:latin typeface="Aptos"/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45920" y="2971800"/>
            <a:ext cx="84124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645920" y="2971800"/>
            <a:ext cx="841248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83080" y="3099816"/>
            <a:ext cx="81381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Aptos"/>
              </a:rPr>
              <a:t>Webapp count by type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828800" y="3584448"/>
          <a:ext cx="78638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828800"/>
                <a:gridCol w="182880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Webapp type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Webapp rows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IIS Web Applications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866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99.5%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Tomcat Web Applications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0.5%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Total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870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100.0%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48640" y="6327648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Source: Discovery.xlsx, Data sheet. Webapp rows identified from resourceType; duplicate parentResourceName values are counted separately.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