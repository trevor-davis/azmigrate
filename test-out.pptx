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617720"/>
            <a:ext cx="12191695" cy="91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4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Aptos Display"/>
              </a:rPr>
              <a:t>Azure Migrate Interpreted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CADCFC"/>
                </a:solidFill>
                <a:latin typeface="Aptos"/>
              </a:rPr>
              <a:t>Discovery and assessment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Consolidated Infrastructure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2377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2377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VM Power State Chart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Powered 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490472"/>
            <a:ext cx="100584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1490472"/>
            <a:ext cx="1005840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00784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1,398 (95.0%)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6654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Powered Off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17320" y="2093976"/>
            <a:ext cx="100584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7320" y="2093976"/>
            <a:ext cx="53241" cy="13716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042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74 (5.0%)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1005840"/>
            <a:ext cx="85953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0360" y="1005840"/>
            <a:ext cx="85953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133856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VM Utilization Summary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127248" y="1426464"/>
          <a:ext cx="82296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920240"/>
                <a:gridCol w="2331720"/>
                <a:gridCol w="2788920"/>
              </a:tblGrid>
              <a:tr h="2286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On-premises total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On-premises Utilization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Recommended Azure sizing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Assessed VMs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1,472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Storage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3.03 PB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48.8% Consumed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1.56 PB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48.5%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Cores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8,821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48.9% CPU Utilization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6,758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23.4%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Memory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44.4 TB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32.9% Memory Utilization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6454F"/>
                          </a:solidFill>
                        </a:defRPr>
                      </a:pPr>
                      <a:r>
                        <a:rPr sz="1100">
                          <a:solidFill>
                            <a:srgbClr val="36454F"/>
                          </a:solidFill>
                        </a:rPr>
                        <a:t>37.3 TB (</a:t>
                      </a:r>
                      <a:r>
                        <a:rPr sz="1100" b="1">
                          <a:solidFill>
                            <a:srgbClr val="228B22"/>
                          </a:solidFill>
                        </a:rPr>
                        <a:t>16.0% decrease</a:t>
                      </a:r>
                      <a:r>
                        <a:rPr sz="1100">
                          <a:solidFill>
                            <a:srgbClr val="36454F"/>
                          </a:solidFill>
                        </a:rPr>
                        <a:t>)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365760" y="3154680"/>
            <a:ext cx="35661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154680"/>
            <a:ext cx="35661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2826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Fileshare count by host OS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3703320"/>
          <a:ext cx="32918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914400"/>
                <a:gridCol w="777240"/>
                <a:gridCol w="59436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Host OS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OS category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Fileshares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Linux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RHEL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4160520" y="31546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60520" y="3154680"/>
            <a:ext cx="34290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3282696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Database count by type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297680" y="3703320"/>
          <a:ext cx="3154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77240"/>
                <a:gridCol w="685800"/>
              </a:tblGrid>
              <a:tr h="259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Database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SQL Server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MongoDB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MySQL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PostgreSQL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7955279" y="3154680"/>
            <a:ext cx="3520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5279" y="3154680"/>
            <a:ext cx="3520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28269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Webapp count by type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8092440" y="3703320"/>
          <a:ext cx="3246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777240"/>
                <a:gridCol w="6858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IIS Web Applications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866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Tomcat Web Applications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0.5%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Fileshare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Discovery-derived fileshare-only server scope with Azure Files readiness, sizing, and monthly cost comparison.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41732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" y="141732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69164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Aptos"/>
              </a:rPr>
              <a:t>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16712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Fileshare-only servers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1488" y="141732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61488" y="1417320"/>
            <a:ext cx="21488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6936" y="169164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E2761"/>
                </a:solidFill>
                <a:latin typeface="Aptos"/>
              </a:rPr>
              <a:t>275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6936" y="2167128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Fileshare-only shares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466344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71800"/>
            <a:ext cx="46634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9981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" b="1">
                <a:solidFill>
                  <a:srgbClr val="1E2761"/>
                </a:solidFill>
                <a:latin typeface="Aptos"/>
              </a:rPr>
              <a:t/>
            </a:r>
          </a:p>
        </p:txBody>
      </p:sp>
      <p:pic>
        <p:nvPicPr>
          <p:cNvPr id="15" name="Picture 14" descr="protocol-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400"/>
            <a:ext cx="4187952" cy="26060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532120" y="1417320"/>
            <a:ext cx="57607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32120" y="1417320"/>
            <a:ext cx="57607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54533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E2761"/>
                </a:solidFill>
                <a:latin typeface="Aptos"/>
              </a:rPr>
              <a:t>Fileshare-only Azure sizing and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41848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41848" y="1920240"/>
            <a:ext cx="1298448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1576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147.2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51576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Azure Files size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1920240"/>
            <a:ext cx="1298448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50608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$11.3K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8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Azure Files / mo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9912" y="1920240"/>
            <a:ext cx="129844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39912" y="1920240"/>
            <a:ext cx="1298448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2103120"/>
            <a:ext cx="10789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$21.2K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450592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Lift &amp; shift / 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29800" y="1920240"/>
            <a:ext cx="122529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29800" y="1920240"/>
            <a:ext cx="1225296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39528" y="210312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Aptos"/>
              </a:rPr>
              <a:t>$9.9K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9528" y="245059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Monthly delta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32120" y="2971800"/>
            <a:ext cx="576072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532120" y="2971800"/>
            <a:ext cx="57607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309981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E2761"/>
                </a:solidFill>
                <a:latin typeface="Aptos"/>
              </a:rPr>
              <a:t>Azure Files readiness distribution</a:t>
            </a:r>
          </a:p>
        </p:txBody>
      </p:sp>
      <p:pic>
        <p:nvPicPr>
          <p:cNvPr id="38" name="Picture 37" descr="azure-files-readiness-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976" y="3630168"/>
            <a:ext cx="5715000" cy="241401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84632" y="6409944"/>
            <a:ext cx="10030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sheet; Strategy_PaaS_Preferred.xlsx FileShares_to_Azure_Files; Strategy_Lift_and_shift.xlsx Server_to_AzureVM.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VM Power State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1143000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0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6851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8251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250</a:t>
            </a:r>
          </a:p>
        </p:txBody>
      </p:sp>
      <p:sp>
        <p:nvSpPr>
          <p:cNvPr id="7" name="Rectangle 6"/>
          <p:cNvSpPr/>
          <p:nvPr/>
        </p:nvSpPr>
        <p:spPr>
          <a:xfrm>
            <a:off x="3990702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62102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500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4554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5954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750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38405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9805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2257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33657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1,250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86108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57508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1,500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09960" y="1417320"/>
            <a:ext cx="9144" cy="1097280"/>
          </a:xfrm>
          <a:prstGeom prst="rect">
            <a:avLst/>
          </a:prstGeom>
          <a:solidFill>
            <a:srgbClr val="DA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0" y="2679192"/>
            <a:ext cx="4572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Aptos"/>
              </a:rPr>
              <a:t>1,750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1600200"/>
            <a:ext cx="9966960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1600200"/>
            <a:ext cx="9966960" cy="2560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2103120"/>
            <a:ext cx="52757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2103120"/>
            <a:ext cx="527578" cy="25603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770632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Aptos"/>
              </a:rPr>
              <a:t>Powered On (1,398)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1888" y="2770632"/>
            <a:ext cx="16916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Aptos"/>
              </a:rPr>
              <a:t>Powered Off (74)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101498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10149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712463"/>
            <a:ext cx="9875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VM power-state counts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868680" y="4187952"/>
          <a:ext cx="5486400" cy="1335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554480"/>
              </a:tblGrid>
              <a:tr h="33375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Power state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VM 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 of VMs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Powered On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1,398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Powered Off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 VMs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1,472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6903720" y="4133087"/>
            <a:ext cx="17830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4133087"/>
            <a:ext cx="17830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4407407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1,398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4882896"/>
            <a:ext cx="1472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Powered 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23960" y="4133087"/>
            <a:ext cx="17830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23960" y="4133087"/>
            <a:ext cx="1783080" cy="7315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9408" y="4407407"/>
            <a:ext cx="14721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4882896"/>
            <a:ext cx="1472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6454F"/>
                </a:solidFill>
                <a:latin typeface="Aptos"/>
              </a:rPr>
              <a:t>Powered Off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Source: Discovery.xlsx, Data sheet, resourceType = microsoft.offazure/vmwaresites/machines.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VM Utilization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On-premises footprint compared with recommended Azure sizing; lower is better for capacity change.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17043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On-premises footprint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1,472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Assessed VMs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06040" y="141732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3.03 PB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48.8% Consumed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9160" y="141732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8,821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Cores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48.9% CPU Utilization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141732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12280" y="141732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67728" y="169164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44.4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8" y="216712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47802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32.9% Memory Utilization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3621024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Recommended Azure sizing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3886200"/>
            <a:ext cx="1901952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148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1.56 PB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-48.5% vs on-prem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0916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09160" y="388620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6460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6,758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Cores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460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-23.4% vs on-prem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12280" y="3886200"/>
            <a:ext cx="190195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12280" y="3886200"/>
            <a:ext cx="1901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160520"/>
            <a:ext cx="15910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E2761"/>
                </a:solidFill>
                <a:latin typeface="Aptos"/>
              </a:rPr>
              <a:t>37.3 TB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728" y="4636008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6454F"/>
                </a:solidFill>
                <a:latin typeface="Aptos"/>
              </a:rPr>
              <a:t>Memory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728" y="4946904"/>
            <a:ext cx="159105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-16.0% vs on-prem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15400" y="1417320"/>
            <a:ext cx="310896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15400" y="1417320"/>
            <a:ext cx="31089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52560" y="154533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On-prem vs Azure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1920240"/>
            <a:ext cx="164592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08592" y="188366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On-prem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1920240"/>
            <a:ext cx="164592" cy="10972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51592" y="188366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Azure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80" y="23774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Storage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98280" y="267004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98280" y="267004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89920" y="264261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3.03 PB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2980944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98280" y="2980944"/>
            <a:ext cx="84794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89920" y="295351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1.56 PB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30708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Cores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8280" y="359968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098280" y="359968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89920" y="357225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8,821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98280" y="3910583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098280" y="3910583"/>
            <a:ext cx="126098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789920" y="3883151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6,758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98280" y="42367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Memory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98280" y="4529328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98280" y="4529328"/>
            <a:ext cx="1645920" cy="2011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789920" y="450189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44.4 TB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98280" y="4840224"/>
            <a:ext cx="1645920" cy="2011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98280" y="4840224"/>
            <a:ext cx="1382244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89920" y="4812791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37.3 TB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Source: Strategy_Lift_and_shift.xlsx, Server_to_AzureVM tab. Recommended storage, cores, and memory are compared to on-premises totals.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Fileshares by Host OS Category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14300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14300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41732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E2761"/>
                </a:solidFill>
                <a:latin typeface="Aptos"/>
              </a:rPr>
              <a:t>746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892807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fileshares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8988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Windows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417320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417320"/>
            <a:ext cx="6217920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0" y="138988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743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682496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Linux / RHEL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709928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709928"/>
            <a:ext cx="25106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1682496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75104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Other / Unknown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002536"/>
            <a:ext cx="621792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2002536"/>
            <a:ext cx="9144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0" y="1975104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2971800"/>
            <a:ext cx="8412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0" y="2971800"/>
            <a:ext cx="84124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3080" y="30998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Fileshare count by host operating system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828800" y="3584448"/>
          <a:ext cx="8046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Host OS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OS category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Fileshares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Windows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Linux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RHEL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746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Fileshares are resourceType = microsoft.applicationmigration/storagesites/fileshares; OS is joined from host machine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Database Resources by Type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14300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14300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41732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E2761"/>
                </a:solidFill>
                <a:latin typeface="Aptos"/>
              </a:rPr>
              <a:t>289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892807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database resources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3898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SQL Server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081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08176"/>
            <a:ext cx="6355080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35640" y="13898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252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6184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MongoDB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6367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36776"/>
            <a:ext cx="479152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35640" y="16184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8470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MySQL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8653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865376"/>
            <a:ext cx="277404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35640" y="18470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075688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36454F"/>
                </a:solidFill>
                <a:latin typeface="Aptos"/>
              </a:rPr>
              <a:t>PostgreSQL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093976"/>
            <a:ext cx="6355080" cy="1097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2093976"/>
            <a:ext cx="176530" cy="10972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35640" y="2075688"/>
            <a:ext cx="41148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45920" y="2971800"/>
            <a:ext cx="8412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45920" y="2971800"/>
            <a:ext cx="84124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0998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Database count by type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828800" y="3584448"/>
          <a:ext cx="78638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828800"/>
                <a:gridCol w="182880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Database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SQL Server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MongoDB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19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6.6%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MySQL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PostgreSQL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2.4%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Database rows identified from database-related values in resourceType.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Non-SQL Database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Discovery footprint, support status, and PaaS readiness for MongoDB, MySQL, and PostgreSQL.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09728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097280"/>
            <a:ext cx="53035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25295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Discovery footprint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1572768"/>
            <a:ext cx="1078992" cy="2286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03704" y="1609344"/>
            <a:ext cx="96926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Instances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572768"/>
            <a:ext cx="1078992" cy="2286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28416" y="1609344"/>
            <a:ext cx="96926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Servers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8264" y="1572768"/>
            <a:ext cx="1078992" cy="2286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609344"/>
            <a:ext cx="96926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Versions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88366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MongoDB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184708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03704" y="188366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2" y="184708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28416" y="188366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98264" y="184708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188366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15798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MySQL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8840" y="212140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03704" y="215798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212140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28416" y="215798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8264" y="212140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3128" y="215798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43230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PostgreSQL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48840" y="239572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03704" y="243230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73552" y="239572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28416" y="243230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98264" y="2395728"/>
            <a:ext cx="1078992" cy="228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53128" y="243230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2706624"/>
            <a:ext cx="107899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48840" y="2670048"/>
            <a:ext cx="1078992" cy="22860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03704" y="270662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2670048"/>
            <a:ext cx="1078992" cy="22860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28416" y="270662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37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98264" y="2670048"/>
            <a:ext cx="1078992" cy="228600"/>
          </a:xfrm>
          <a:prstGeom prst="roundRect">
            <a:avLst/>
          </a:prstGeom>
          <a:solidFill>
            <a:srgbClr val="1E276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53128" y="2706624"/>
            <a:ext cx="96926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1097280"/>
            <a:ext cx="53949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1097280"/>
            <a:ext cx="53949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1225295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Support status by database type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79" y="1572768"/>
            <a:ext cx="1197863" cy="228600"/>
          </a:xfrm>
          <a:prstGeom prst="round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618488"/>
            <a:ext cx="1106423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Mainstream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32519" y="1572768"/>
            <a:ext cx="1197863" cy="22860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0" y="1618488"/>
            <a:ext cx="1106423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Out of support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66959" y="1572768"/>
            <a:ext cx="1197863" cy="228600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12680" y="1618488"/>
            <a:ext cx="1106423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Unknown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188366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MongoDB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79" y="1847088"/>
            <a:ext cx="1197863" cy="228600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43800" y="188366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32519" y="1847088"/>
            <a:ext cx="1197863" cy="228600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0" y="188366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59" y="1847088"/>
            <a:ext cx="1197863" cy="228600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188366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215798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MySQL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98079" y="2121408"/>
            <a:ext cx="1197863" cy="228600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43800" y="215798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732519" y="2121408"/>
            <a:ext cx="1197863" cy="228600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78240" y="215798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66959" y="2121408"/>
            <a:ext cx="1197863" cy="228600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12680" y="215798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243230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PostgreSQL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98079" y="2395728"/>
            <a:ext cx="1197863" cy="228600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43800" y="243230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2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732519" y="2395728"/>
            <a:ext cx="1197863" cy="228600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78240" y="243230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2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66959" y="2395728"/>
            <a:ext cx="1197863" cy="228600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12680" y="243230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0" y="2706624"/>
            <a:ext cx="960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498079" y="2670048"/>
            <a:ext cx="1197863" cy="228600"/>
          </a:xfrm>
          <a:prstGeom prst="roundRect">
            <a:avLst/>
          </a:prstGeom>
          <a:solidFill>
            <a:srgbClr val="228B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543800" y="270662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32519" y="2670048"/>
            <a:ext cx="1197863" cy="2286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78240" y="270662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66959" y="2670048"/>
            <a:ext cx="1197863" cy="228600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12680" y="2706624"/>
            <a:ext cx="110642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4360" y="3154680"/>
            <a:ext cx="109728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94360" y="3154680"/>
            <a:ext cx="109728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31520" y="328269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PaaS readiness by database 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148840" y="3675887"/>
            <a:ext cx="2057400" cy="384048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240280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Unknown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79392" y="3675887"/>
            <a:ext cx="2057400" cy="384048"/>
          </a:xfrm>
          <a:prstGeom prst="round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70831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Ready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9944" y="3675887"/>
            <a:ext cx="2057400" cy="384048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01383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2761"/>
                </a:solidFill>
                <a:latin typeface="Aptos"/>
              </a:rPr>
              <a:t>Ready w/ conditions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540496" y="3675887"/>
            <a:ext cx="2057400" cy="384048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631936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Not ready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1605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MongoDB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48840" y="4114800"/>
            <a:ext cx="2057400" cy="38404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240280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279392" y="4114800"/>
            <a:ext cx="2057400" cy="38404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70831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9944" y="4114800"/>
            <a:ext cx="2057400" cy="38404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01383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19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540496" y="4114800"/>
            <a:ext cx="2057400" cy="38404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631936" y="4197096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8680" y="4599431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MySQL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148840" y="4553712"/>
            <a:ext cx="2057400" cy="38404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40280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279392" y="4553712"/>
            <a:ext cx="2057400" cy="38404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370831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409944" y="4553712"/>
            <a:ext cx="2057400" cy="38404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501383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11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540496" y="4553712"/>
            <a:ext cx="2057400" cy="38404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631936" y="4636007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68680" y="5038343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PostgreSQL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148840" y="4992623"/>
            <a:ext cx="2057400" cy="384048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240280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279392" y="4992623"/>
            <a:ext cx="2057400" cy="384048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370831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409944" y="4992623"/>
            <a:ext cx="2057400" cy="384048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501383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7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540496" y="4992623"/>
            <a:ext cx="2057400" cy="384048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631936" y="5074919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68680" y="5477255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148840" y="5431536"/>
            <a:ext cx="2057400" cy="384048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40280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279392" y="5431536"/>
            <a:ext cx="2057400" cy="384048"/>
          </a:xfrm>
          <a:prstGeom prst="roundRect">
            <a:avLst/>
          </a:prstGeom>
          <a:solidFill>
            <a:srgbClr val="228B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370831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409944" y="5431536"/>
            <a:ext cx="2057400" cy="384048"/>
          </a:xfrm>
          <a:prstGeom prst="roundRect">
            <a:avLst/>
          </a:prstGeom>
          <a:solidFill>
            <a:srgbClr val="EAB30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501383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2761"/>
                </a:solidFill>
                <a:latin typeface="Aptos"/>
              </a:rPr>
              <a:t>37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540496" y="5431536"/>
            <a:ext cx="2057400" cy="384048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631936" y="5513831"/>
            <a:ext cx="1874519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sheet for instances, servers, versions, and directSupportStatus; Strategy_PaaS_Preferred.xlsx for PaaS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SQL Readiness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21945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252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Server Instances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914400"/>
            <a:ext cx="219456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436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245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Servers running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914400"/>
            <a:ext cx="2194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66360" y="914400"/>
            <a:ext cx="21945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1024128"/>
            <a:ext cx="1975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E2761"/>
                </a:solidFill>
                <a:latin typeface="Aptos"/>
              </a:rPr>
              <a:t>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088" y="1280160"/>
            <a:ext cx="1975104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Instances per 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627632"/>
            <a:ext cx="11247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1627632"/>
            <a:ext cx="112471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7556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Aptos"/>
              </a:rPr>
              <a:t>Lift &amp; Shift vs SQL MI (where ready) + Lift &amp; Shift remainder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1947672"/>
            <a:ext cx="356616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100% Lift &amp; 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$80.7K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per month   /   $968,154/yr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1947672"/>
            <a:ext cx="356616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SQL MI (where ready) + Lift &amp; Shift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4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$156.7K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9704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per month   /   $1,879,978/yr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1947672"/>
            <a:ext cx="35661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19" y="1947672"/>
            <a:ext cx="356616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3" y="2020824"/>
            <a:ext cx="32735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Yearly Savings Using SQL 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2194560"/>
            <a:ext cx="32735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DC2626"/>
                </a:solidFill>
                <a:latin typeface="Aptos"/>
              </a:rPr>
              <a:t>-$911,824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404872"/>
            <a:ext cx="3273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-$75,985 per month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724912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2724912"/>
            <a:ext cx="112471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2852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Aptos"/>
              </a:rPr>
              <a:t>SQL Server Licensing — owned vs. need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3090672"/>
            <a:ext cx="54178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" y="3118104"/>
            <a:ext cx="50886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SQL Server Standard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Owned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1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00883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Need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00883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7096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Delta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97096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DC2626"/>
                </a:solidFill>
                <a:latin typeface="Aptos"/>
              </a:rPr>
              <a:t>-25.0%  deficit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5060" y="3090672"/>
            <a:ext cx="54178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9652" y="3118104"/>
            <a:ext cx="50886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E2761"/>
                </a:solidFill>
                <a:latin typeface="Aptos"/>
              </a:rPr>
              <a:t>SQL Server Enterprise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9652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Owned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9652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55864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Need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55864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52076" y="3310128"/>
            <a:ext cx="1696211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Delta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2076" y="3447288"/>
            <a:ext cx="16962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28B22"/>
                </a:solidFill>
                <a:latin typeface="Aptos"/>
              </a:rPr>
              <a:t>+50.0%  surplus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3886200"/>
            <a:ext cx="5852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3886200"/>
            <a:ext cx="58521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014215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SQL Server versions by support status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5800" y="4251960"/>
            <a:ext cx="146304" cy="10058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8696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Mainstream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03120" y="4251960"/>
            <a:ext cx="146304" cy="100584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0428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Extended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4251960"/>
            <a:ext cx="146304" cy="1005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2160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Out of support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0" y="4251960"/>
            <a:ext cx="146304" cy="10058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38928" y="420624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Unknown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457200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03120" y="460857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103120" y="4608576"/>
            <a:ext cx="3246120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94959" y="457200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111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475488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03120" y="479145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103120" y="4791456"/>
            <a:ext cx="1608437" cy="9144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94959" y="475488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55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49377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103120" y="497433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103120" y="4974336"/>
            <a:ext cx="1520704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94959" y="493776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52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" y="512064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03120" y="515721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03120" y="5157216"/>
            <a:ext cx="672619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94959" y="512064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530352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17.0.1000.7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103120" y="534009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103120" y="5340096"/>
            <a:ext cx="233954" cy="9144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94959" y="530352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" y="548640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36454F"/>
                </a:solidFill>
                <a:latin typeface="Aptos"/>
              </a:rPr>
              <a:t>SQL Server 2014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103120" y="5522976"/>
            <a:ext cx="3246120" cy="91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03120" y="5522976"/>
            <a:ext cx="87732" cy="91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394959" y="548640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3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92240" y="388620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492240" y="3886200"/>
            <a:ext cx="52578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29400" y="4014215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SQL Readiness by Target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75120" y="4251960"/>
            <a:ext cx="146304" cy="100584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858000" y="420624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VM Instances (8)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0" y="4251960"/>
            <a:ext cx="146304" cy="1005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26880" y="420624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6454F"/>
                </a:solidFill>
                <a:latin typeface="Aptos"/>
              </a:rPr>
              <a:t>SQL MI Instances (244)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5800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858000" y="5718265"/>
            <a:ext cx="461772" cy="42454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35634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56348" y="5654584"/>
            <a:ext cx="461772" cy="106135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84848" y="5535385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83196" y="5471704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2084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Ready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9244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09244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59078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590788" y="5742432"/>
            <a:ext cx="461772" cy="182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1928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517636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955279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Not Ready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32688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32688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82522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25228" y="4572000"/>
            <a:ext cx="461772" cy="1188719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25372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752076" y="4389120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224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18972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Ready w/</a:t>
            </a:r>
            <a:br/>
            <a:r>
              <a:t>Conditions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561320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561320" y="5742432"/>
            <a:ext cx="461772" cy="18288"/>
          </a:xfrm>
          <a:prstGeom prst="rect">
            <a:avLst/>
          </a:prstGeom>
          <a:solidFill>
            <a:srgbClr val="FF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1059668" y="4572000"/>
            <a:ext cx="461772" cy="118871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059668" y="5742432"/>
            <a:ext cx="461772" cy="182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488168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986516" y="5559552"/>
            <a:ext cx="60807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24160" y="5797296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36454F"/>
                </a:solidFill>
                <a:latin typeface="Aptos"/>
              </a:rPr>
              <a:t>Unknown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(SQL instances &amp; versions); Strategy_PaaS_Preferred.xlsx SQLinstance_to_AzureSQLVM (AZURE_SQL_VM_READINESS + AZURE_SQL_VM_COMPUTE/STORAGE_MONTHLY_COST_USD) and SQLinstance_to_AzureSQLMI (AZURE_SQL_MI_READINESS + AZURE_SQL_MI_COMPUTE/STORAGE_MONTHLY_COST_USD); Strategy_Lift_and_shift.xlsx Server_to_AzureVM (TOTAL_MONTHLY_COST_USD for servers in either SQL sheet, deduplicated).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WebApp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Discovery web application footprint, support status, and AKS readiness by web app type.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37947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24128"/>
            <a:ext cx="37947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52144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WebApp type distribution</a:t>
            </a:r>
          </a:p>
        </p:txBody>
      </p:sp>
      <p:pic>
        <p:nvPicPr>
          <p:cNvPr id="7" name="Picture 6" descr="webapp-type-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53312"/>
            <a:ext cx="3474720" cy="18470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26280" y="1024128"/>
            <a:ext cx="70866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1024128"/>
            <a:ext cx="70866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152144"/>
            <a:ext cx="6812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WebApps and hosting servers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73168" y="1627632"/>
          <a:ext cx="6492239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874519"/>
                <a:gridCol w="2011680"/>
              </a:tblGrid>
              <a:tr h="3086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Unique servers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IIS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866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681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Tomcat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683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75887"/>
            <a:ext cx="544068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675887"/>
            <a:ext cx="54406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directSupportStatus by type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64792" y="4270248"/>
            <a:ext cx="1249680" cy="310896"/>
          </a:xfrm>
          <a:prstGeom prst="round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01368" y="4343400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Mainstream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60192" y="4270248"/>
            <a:ext cx="1249680" cy="31089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6768" y="4343400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Out of support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5592" y="4270248"/>
            <a:ext cx="1249680" cy="310896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2168" y="4343400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Unknown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727448"/>
            <a:ext cx="86868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IIS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64792" y="4654296"/>
            <a:ext cx="1249680" cy="310896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01368" y="4727448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755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60192" y="4654296"/>
            <a:ext cx="1249680" cy="310896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96768" y="4727448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5592" y="4654296"/>
            <a:ext cx="1249680" cy="310896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92168" y="4727448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" y="5111496"/>
            <a:ext cx="86868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Tomcat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64792" y="5038344"/>
            <a:ext cx="1249680" cy="310896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01368" y="5111496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0192" y="5038344"/>
            <a:ext cx="1249680" cy="310896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96768" y="5111496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55592" y="5038344"/>
            <a:ext cx="1249680" cy="310896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2168" y="5111496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5495544"/>
            <a:ext cx="86868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764792" y="5422392"/>
            <a:ext cx="1249680" cy="310896"/>
          </a:xfrm>
          <a:prstGeom prst="roundRect">
            <a:avLst/>
          </a:prstGeom>
          <a:solidFill>
            <a:srgbClr val="228B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01368" y="5495544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759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060192" y="5422392"/>
            <a:ext cx="1249680" cy="310896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96768" y="5495544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55592" y="5422392"/>
            <a:ext cx="1249680" cy="310896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92168" y="5495544"/>
            <a:ext cx="117652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84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675887"/>
            <a:ext cx="544068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2200" y="3675887"/>
            <a:ext cx="54406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3803903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Aptos"/>
              </a:rPr>
              <a:t>AKS readiness by type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34071" y="4270248"/>
            <a:ext cx="925830" cy="310896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70647" y="4343400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Unknown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05622" y="4270248"/>
            <a:ext cx="925830" cy="310896"/>
          </a:xfrm>
          <a:prstGeom prst="round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42197" y="4343400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Ready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77172" y="4270248"/>
            <a:ext cx="925830" cy="310896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3747" y="4343400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E2761"/>
                </a:solidFill>
                <a:latin typeface="Aptos"/>
              </a:rPr>
              <a:t>Ready w/ conditions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348722" y="4270248"/>
            <a:ext cx="925830" cy="31089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5297" y="4343400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Not Ready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3368" y="4727448"/>
            <a:ext cx="86868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IIS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434071" y="4654296"/>
            <a:ext cx="925830" cy="310896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70647" y="4727448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5622" y="4654296"/>
            <a:ext cx="925830" cy="310896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42197" y="4727448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77172" y="4654296"/>
            <a:ext cx="925830" cy="310896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13747" y="4727448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402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348722" y="4654296"/>
            <a:ext cx="925830" cy="310896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385297" y="4727448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73368" y="5111496"/>
            <a:ext cx="86868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Tomcat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34071" y="5038344"/>
            <a:ext cx="925830" cy="310896"/>
          </a:xfrm>
          <a:prstGeom prst="roundRect">
            <a:avLst/>
          </a:prstGeom>
          <a:solidFill>
            <a:srgbClr val="E7EAE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70647" y="5111496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05622" y="5038344"/>
            <a:ext cx="925830" cy="310896"/>
          </a:xfrm>
          <a:prstGeom prst="roundRect">
            <a:avLst/>
          </a:prstGeom>
          <a:solidFill>
            <a:srgbClr val="CEE5C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442197" y="5111496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377172" y="5038344"/>
            <a:ext cx="925830" cy="310896"/>
          </a:xfrm>
          <a:prstGeom prst="roundRect">
            <a:avLst/>
          </a:prstGeom>
          <a:solidFill>
            <a:srgbClr val="FAEE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413747" y="5111496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348722" y="5038344"/>
            <a:ext cx="925830" cy="310896"/>
          </a:xfrm>
          <a:prstGeom prst="roundRect">
            <a:avLst/>
          </a:prstGeom>
          <a:solidFill>
            <a:srgbClr val="F7CFC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385297" y="5111496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73368" y="5495544"/>
            <a:ext cx="86868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E2761"/>
                </a:solidFill>
                <a:latin typeface="Aptos"/>
              </a:rPr>
              <a:t>Total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434071" y="5422392"/>
            <a:ext cx="925830" cy="310896"/>
          </a:xfrm>
          <a:prstGeom prst="roundRect">
            <a:avLst/>
          </a:prstGeom>
          <a:solidFill>
            <a:srgbClr val="94A3B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70647" y="5495544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405622" y="5422392"/>
            <a:ext cx="925830" cy="310896"/>
          </a:xfrm>
          <a:prstGeom prst="roundRect">
            <a:avLst/>
          </a:prstGeom>
          <a:solidFill>
            <a:srgbClr val="228B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42197" y="5495544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377172" y="5422392"/>
            <a:ext cx="925830" cy="310896"/>
          </a:xfrm>
          <a:prstGeom prst="roundRect">
            <a:avLst/>
          </a:prstGeom>
          <a:solidFill>
            <a:srgbClr val="EAB30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413747" y="5495544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E2761"/>
                </a:solidFill>
                <a:latin typeface="Aptos"/>
              </a:rPr>
              <a:t>402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348722" y="5422392"/>
            <a:ext cx="925830" cy="310896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385297" y="5495544"/>
            <a:ext cx="852678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64748B"/>
                </a:solidFill>
                <a:latin typeface="Aptos"/>
              </a:rPr>
              <a:t>Sources: Discovery.xlsx Data sheet for resourceType, parentResourceName, and directSupportStatus; Strategy_PaaS_Preferred.xlsx WebApp_to_AKS for READINESS.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Aptos Display"/>
              </a:rPr>
              <a:t>Web Applications by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41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Aptos"/>
              </a:rPr>
              <a:t>Counted by webapp rows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143000"/>
            <a:ext cx="2148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143000"/>
            <a:ext cx="214884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17320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1E2761"/>
                </a:solidFill>
                <a:latin typeface="Aptos"/>
              </a:rPr>
              <a:t>870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92807"/>
            <a:ext cx="18379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6454F"/>
                </a:solidFill>
                <a:latin typeface="Aptos"/>
              </a:rPr>
              <a:t>Total webapps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3898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IIS Web Applications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417320"/>
            <a:ext cx="594360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09160" y="1417320"/>
            <a:ext cx="5943600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389888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866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164592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6454F"/>
                </a:solidFill>
                <a:latin typeface="Aptos"/>
              </a:rPr>
              <a:t>Tomcat Web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1673352"/>
            <a:ext cx="5943600" cy="1371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9160" y="1673352"/>
            <a:ext cx="27453" cy="1371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0" y="164592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2761"/>
                </a:solidFill>
                <a:latin typeface="Aptos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0" y="2971800"/>
            <a:ext cx="8412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45920" y="2971800"/>
            <a:ext cx="841248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3099816"/>
            <a:ext cx="81381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Aptos"/>
              </a:rPr>
              <a:t>Webapp count by type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828800" y="3584448"/>
          <a:ext cx="78638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type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Webapp rows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Share</a:t>
                      </a:r>
                    </a:p>
                  </a:txBody>
                  <a:tcPr marL="36576" marR="36576" marT="18288" marB="18288"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IIS Web Applications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866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99.5%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Tomcat Web Applications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0.5%</a:t>
                      </a:r>
                    </a:p>
                  </a:txBody>
                  <a:tcPr marL="36576" marR="36576" marT="18288" marB="18288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Total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870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  <a:latin typeface="Aptos"/>
                        </a:defRPr>
                      </a:pPr>
                      <a:r>
                        <a:t>100.0%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48640" y="63276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4748B"/>
                </a:solidFill>
                <a:latin typeface="Aptos"/>
              </a:rPr>
              <a:t>Source: Discovery.xlsx, Data sheet. Webapp rows identified from resourceType; duplicate parentResourceName values are counted separately.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