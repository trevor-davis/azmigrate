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617720"/>
            <a:ext cx="12191695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Aptos Display"/>
              </a:rPr>
              <a:t>Azure Migrate Interpreted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033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CADCFC"/>
                </a:solidFill>
                <a:latin typeface="Aptos"/>
              </a:rPr>
              <a:t>Discovery and assessment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Aptos Display"/>
              </a:rPr>
              <a:t>Consolidated Infrastructure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2377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237744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Aptos"/>
              </a:rPr>
              <a:t>VM Power State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36454F"/>
                </a:solidFill>
                <a:latin typeface="Aptos"/>
              </a:rPr>
              <a:t>Powered 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1490472"/>
            <a:ext cx="100584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1490472"/>
            <a:ext cx="1005840" cy="13716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00784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1,398 (95.0%)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36454F"/>
                </a:solidFill>
                <a:latin typeface="Aptos"/>
              </a:rPr>
              <a:t>Powered Off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2093976"/>
            <a:ext cx="100584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7320" y="2093976"/>
            <a:ext cx="53241" cy="137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042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74 (5.0%)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1005840"/>
            <a:ext cx="85953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0360" y="1005840"/>
            <a:ext cx="859536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1133856"/>
            <a:ext cx="8321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Aptos"/>
              </a:rPr>
              <a:t>VM Utilization Summary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33087" y="1426464"/>
            <a:ext cx="1874519" cy="237744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9663" y="1472184"/>
            <a:ext cx="1801367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On-premises total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44183" y="1426464"/>
            <a:ext cx="2286000" cy="237744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59" y="1472184"/>
            <a:ext cx="221284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On-premises utilization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1426464"/>
            <a:ext cx="2743200" cy="237744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1472184"/>
            <a:ext cx="267004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Recommended Azure sizing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7248" y="1746504"/>
            <a:ext cx="93268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Assessed VMs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33087" y="1700784"/>
            <a:ext cx="1874519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9663" y="1746504"/>
            <a:ext cx="1801367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1,472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2020824"/>
            <a:ext cx="93268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Storage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33087" y="1975104"/>
            <a:ext cx="1874519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9663" y="2020824"/>
            <a:ext cx="1801367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3.03 PB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44183" y="1975104"/>
            <a:ext cx="228600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59" y="2020824"/>
            <a:ext cx="221284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48.8% Consumed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1975104"/>
            <a:ext cx="274320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03336" y="2020824"/>
            <a:ext cx="267004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28B22"/>
                </a:solidFill>
                <a:latin typeface="Aptos"/>
              </a:rPr>
              <a:t>1.56 PB (48.5% decrease)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27248" y="2295144"/>
            <a:ext cx="93268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Cores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33087" y="2249424"/>
            <a:ext cx="1874519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69663" y="2295144"/>
            <a:ext cx="1801367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8,821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44183" y="2249424"/>
            <a:ext cx="228600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59" y="2295144"/>
            <a:ext cx="221284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48.9% CPU Utilization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2249424"/>
            <a:ext cx="274320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03336" y="2295144"/>
            <a:ext cx="267004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28B22"/>
                </a:solidFill>
                <a:latin typeface="Aptos"/>
              </a:rPr>
              <a:t>6,758 (23.4% decrease)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27248" y="2569463"/>
            <a:ext cx="93268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Memory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33087" y="2523744"/>
            <a:ext cx="1874519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69663" y="2569463"/>
            <a:ext cx="1801367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44.4 TB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44183" y="2523744"/>
            <a:ext cx="228600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59" y="2569463"/>
            <a:ext cx="221284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32.9% Memory Utilization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66760" y="2523744"/>
            <a:ext cx="2743200" cy="23774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03336" y="2569463"/>
            <a:ext cx="267004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28B22"/>
                </a:solidFill>
                <a:latin typeface="Aptos"/>
              </a:rPr>
              <a:t>37.3 TB (16.0% decrease)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3154680"/>
            <a:ext cx="356616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3154680"/>
            <a:ext cx="356616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2826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Aptos"/>
              </a:rPr>
              <a:t>Fileshare count by host OS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508760" y="3703320"/>
            <a:ext cx="777240" cy="29260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45336" y="3749039"/>
            <a:ext cx="70408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Fileshares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322576" y="3703320"/>
            <a:ext cx="594360" cy="29260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59152" y="3749039"/>
            <a:ext cx="5212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Share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4078224"/>
            <a:ext cx="93268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Windows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508760" y="4032504"/>
            <a:ext cx="7772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45336" y="4078224"/>
            <a:ext cx="70408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743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22576" y="4032504"/>
            <a:ext cx="59436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59152" y="4078224"/>
            <a:ext cx="5212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99.6%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4407407"/>
            <a:ext cx="93268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Linux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08760" y="4361688"/>
            <a:ext cx="7772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545336" y="4407407"/>
            <a:ext cx="70408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22576" y="4361688"/>
            <a:ext cx="59436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59152" y="4407407"/>
            <a:ext cx="5212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0.4%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4736592"/>
            <a:ext cx="93268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Total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08760" y="4690872"/>
            <a:ext cx="777240" cy="292608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45336" y="4736592"/>
            <a:ext cx="70408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746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322576" y="4690872"/>
            <a:ext cx="594360" cy="292608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59152" y="4736592"/>
            <a:ext cx="52120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100.0%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60520" y="3154680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160520" y="3154680"/>
            <a:ext cx="34290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97680" y="328269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Aptos"/>
              </a:rPr>
              <a:t>Database count by type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68112" y="3703320"/>
            <a:ext cx="658368" cy="2286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04688" y="3749039"/>
            <a:ext cx="58521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Count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163056" y="3703320"/>
            <a:ext cx="621792" cy="2286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99632" y="3749039"/>
            <a:ext cx="5486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Share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97680" y="4014215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SQL Server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468112" y="3968496"/>
            <a:ext cx="658368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04688" y="4014215"/>
            <a:ext cx="58521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252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63056" y="3968496"/>
            <a:ext cx="621792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99632" y="4014215"/>
            <a:ext cx="5486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87.2%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97680" y="4279392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MongoDB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468112" y="4233672"/>
            <a:ext cx="658368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504688" y="4279392"/>
            <a:ext cx="58521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19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63056" y="4233672"/>
            <a:ext cx="621792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99632" y="427939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6.6%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97680" y="4544568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MySQL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468112" y="4498848"/>
            <a:ext cx="658368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04688" y="4544568"/>
            <a:ext cx="58521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11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63056" y="4498848"/>
            <a:ext cx="621792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99632" y="454456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3.8%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97680" y="4809744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PostgreSQL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468112" y="4764024"/>
            <a:ext cx="658368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504688" y="4809744"/>
            <a:ext cx="58521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7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163056" y="4764024"/>
            <a:ext cx="621792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99632" y="4809744"/>
            <a:ext cx="5486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2.4%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97680" y="507492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Total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468112" y="5029200"/>
            <a:ext cx="658368" cy="2286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504688" y="5074920"/>
            <a:ext cx="58521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289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163056" y="5029200"/>
            <a:ext cx="621792" cy="2286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99632" y="507492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100.0%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955279" y="3154680"/>
            <a:ext cx="35204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955279" y="3154680"/>
            <a:ext cx="352044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092440" y="3282696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Aptos"/>
              </a:rPr>
              <a:t>Webapp count by type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189719" y="3703320"/>
            <a:ext cx="658368" cy="329184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226295" y="3749039"/>
            <a:ext cx="58521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Webapps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884663" y="3703320"/>
            <a:ext cx="621792" cy="329184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921239" y="3749039"/>
            <a:ext cx="5486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Share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92440" y="4114800"/>
            <a:ext cx="102412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IIS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189719" y="4069080"/>
            <a:ext cx="658368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226295" y="4114800"/>
            <a:ext cx="58521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866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884663" y="4069080"/>
            <a:ext cx="621792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921239" y="4114800"/>
            <a:ext cx="5486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99.5%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092440" y="4480559"/>
            <a:ext cx="102412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Tomcat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189719" y="4434840"/>
            <a:ext cx="658368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226295" y="4480559"/>
            <a:ext cx="58521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4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884663" y="4434840"/>
            <a:ext cx="621792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921239" y="4480559"/>
            <a:ext cx="5486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0.5%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092440" y="4846320"/>
            <a:ext cx="102412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Total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9189719" y="4800600"/>
            <a:ext cx="658368" cy="329184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226295" y="4846320"/>
            <a:ext cx="58521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870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884663" y="4800600"/>
            <a:ext cx="621792" cy="329184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921239" y="4846320"/>
            <a:ext cx="5486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100.0%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Aptos Display"/>
              </a:rPr>
              <a:t>Fileshare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412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Discovery-derived fileshare-only server scope with Azure Files readiness, sizing, and monthly cost comparison.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17320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" y="1417320"/>
            <a:ext cx="214884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691640"/>
            <a:ext cx="18379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E2761"/>
                </a:solidFill>
                <a:latin typeface="Aptos"/>
              </a:rPr>
              <a:t>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2167128"/>
            <a:ext cx="1837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6454F"/>
                </a:solidFill>
                <a:latin typeface="Aptos"/>
              </a:rPr>
              <a:t>Fileshare-only servers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1488" y="1417320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61488" y="1417320"/>
            <a:ext cx="21488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6936" y="1691640"/>
            <a:ext cx="18379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E2761"/>
                </a:solidFill>
                <a:latin typeface="Aptos"/>
              </a:rPr>
              <a:t>275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6936" y="2167128"/>
            <a:ext cx="1837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6454F"/>
                </a:solidFill>
                <a:latin typeface="Aptos"/>
              </a:rPr>
              <a:t>Fileshare-only shares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466344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971800"/>
            <a:ext cx="466344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9981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" b="1">
                <a:solidFill>
                  <a:srgbClr val="1E2761"/>
                </a:solidFill>
                <a:latin typeface="Aptos"/>
              </a:rPr>
              <a:t/>
            </a:r>
          </a:p>
        </p:txBody>
      </p:sp>
      <p:pic>
        <p:nvPicPr>
          <p:cNvPr id="15" name="Picture 14" descr="protocol-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200400"/>
            <a:ext cx="4187952" cy="260604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532120" y="1417320"/>
            <a:ext cx="5760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32120" y="1417320"/>
            <a:ext cx="576072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154533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E2761"/>
                </a:solidFill>
                <a:latin typeface="Aptos"/>
              </a:rPr>
              <a:t>Fileshare-only Azure sizing and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41848" y="1920240"/>
            <a:ext cx="129844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41848" y="1920240"/>
            <a:ext cx="1298448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51576" y="210312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2761"/>
                </a:solidFill>
                <a:latin typeface="Aptos"/>
              </a:rPr>
              <a:t>147.2 TB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51576" y="2450592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36454F"/>
                </a:solidFill>
                <a:latin typeface="Aptos"/>
              </a:rPr>
              <a:t>Azure Files size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1920240"/>
            <a:ext cx="129844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1920240"/>
            <a:ext cx="1298448" cy="54864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210312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2761"/>
                </a:solidFill>
                <a:latin typeface="Aptos"/>
              </a:rPr>
              <a:t>$11.3K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2450592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36454F"/>
                </a:solidFill>
                <a:latin typeface="Aptos"/>
              </a:rPr>
              <a:t>Azure Files / mo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9912" y="1920240"/>
            <a:ext cx="129844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39912" y="1920240"/>
            <a:ext cx="1298448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210312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2761"/>
                </a:solidFill>
                <a:latin typeface="Aptos"/>
              </a:rPr>
              <a:t>$21.2K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450592"/>
            <a:ext cx="107899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36454F"/>
                </a:solidFill>
                <a:latin typeface="Aptos"/>
              </a:rPr>
              <a:t>Lift &amp; shift / mo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9800" y="1920240"/>
            <a:ext cx="122529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29800" y="1920240"/>
            <a:ext cx="1225296" cy="54864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39528" y="210312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2761"/>
                </a:solidFill>
                <a:latin typeface="Aptos"/>
              </a:rPr>
              <a:t>$9.9K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9528" y="245059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36454F"/>
                </a:solidFill>
                <a:latin typeface="Aptos"/>
              </a:rPr>
              <a:t>Monthly delta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32120" y="2971800"/>
            <a:ext cx="576072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32120" y="2971800"/>
            <a:ext cx="576072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309981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E2761"/>
                </a:solidFill>
                <a:latin typeface="Aptos"/>
              </a:rPr>
              <a:t>Azure Files readiness distribution</a:t>
            </a:r>
          </a:p>
        </p:txBody>
      </p:sp>
      <p:pic>
        <p:nvPicPr>
          <p:cNvPr id="38" name="Picture 37" descr="azure-files-readiness-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76" y="3630168"/>
            <a:ext cx="5715000" cy="241401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84632" y="6409944"/>
            <a:ext cx="10030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4748B"/>
                </a:solidFill>
                <a:latin typeface="Aptos"/>
              </a:rPr>
              <a:t>Sources: Discovery.xlsx Data sheet; Strategy_PaaS_Preferred.xlsx FileShares_to_Azure_Files; Strategy_Lift_and_shift.xlsx Server_to_AzureVM.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Aptos Display"/>
              </a:rPr>
              <a:t>VM Power State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1417320"/>
            <a:ext cx="9144" cy="1097280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79192"/>
            <a:ext cx="457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0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6851" y="1417320"/>
            <a:ext cx="9144" cy="1097280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38251" y="2679192"/>
            <a:ext cx="457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250</a:t>
            </a:r>
          </a:p>
        </p:txBody>
      </p:sp>
      <p:sp>
        <p:nvSpPr>
          <p:cNvPr id="7" name="Rectangle 6"/>
          <p:cNvSpPr/>
          <p:nvPr/>
        </p:nvSpPr>
        <p:spPr>
          <a:xfrm>
            <a:off x="3990702" y="1417320"/>
            <a:ext cx="9144" cy="1097280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62102" y="2679192"/>
            <a:ext cx="457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14554" y="1417320"/>
            <a:ext cx="9144" cy="1097280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5954" y="2679192"/>
            <a:ext cx="457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750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38405" y="1417320"/>
            <a:ext cx="9144" cy="1097280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9805" y="2679192"/>
            <a:ext cx="457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1,000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62257" y="1417320"/>
            <a:ext cx="9144" cy="1097280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33657" y="2679192"/>
            <a:ext cx="457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1,250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86108" y="1417320"/>
            <a:ext cx="9144" cy="1097280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57508" y="2679192"/>
            <a:ext cx="457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1,500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09960" y="1417320"/>
            <a:ext cx="9144" cy="1097280"/>
          </a:xfrm>
          <a:prstGeom prst="rect">
            <a:avLst/>
          </a:prstGeom>
          <a:solidFill>
            <a:srgbClr val="DA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0" y="2679192"/>
            <a:ext cx="4572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1,750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1600200"/>
            <a:ext cx="996696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" y="1600200"/>
            <a:ext cx="9966960" cy="2560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2103120"/>
            <a:ext cx="527578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2103120"/>
            <a:ext cx="527578" cy="25603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770632"/>
            <a:ext cx="16459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Aptos"/>
              </a:rPr>
              <a:t>Powered On (1,398)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2770632"/>
            <a:ext cx="16916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Aptos"/>
              </a:rPr>
              <a:t>Powered Off (74)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584448"/>
            <a:ext cx="101498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584448"/>
            <a:ext cx="1014984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712463"/>
            <a:ext cx="9875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Aptos"/>
              </a:rPr>
              <a:t>VM power-state counts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68680" y="4187952"/>
          <a:ext cx="5486400" cy="1335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554480"/>
              </a:tblGrid>
              <a:tr h="33375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Power state</a:t>
                      </a:r>
                    </a:p>
                  </a:txBody>
                  <a:tcPr marL="36576" marR="36576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VM count</a:t>
                      </a:r>
                    </a:p>
                  </a:txBody>
                  <a:tcPr marL="36576" marR="36576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Share of VMs</a:t>
                      </a:r>
                    </a:p>
                  </a:txBody>
                  <a:tcPr marL="36576" marR="36576" marT="18288" marB="18288">
                    <a:solidFill>
                      <a:srgbClr val="1E2761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Powered 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1,398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95.0%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Powered Off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74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5.0%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Total VMs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1,472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100.0%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6903720" y="4133087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03720" y="4133087"/>
            <a:ext cx="178308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9168" y="4407407"/>
            <a:ext cx="14721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E2761"/>
                </a:solidFill>
                <a:latin typeface="Aptos"/>
              </a:rPr>
              <a:t>1,398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4882896"/>
            <a:ext cx="14721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6454F"/>
                </a:solidFill>
                <a:latin typeface="Aptos"/>
              </a:rPr>
              <a:t>Powered 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23960" y="4133087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23960" y="4133087"/>
            <a:ext cx="1783080" cy="7315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79408" y="4407407"/>
            <a:ext cx="14721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E2761"/>
                </a:solidFill>
                <a:latin typeface="Aptos"/>
              </a:rPr>
              <a:t>74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9408" y="4882896"/>
            <a:ext cx="14721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6454F"/>
                </a:solidFill>
                <a:latin typeface="Aptos"/>
              </a:rPr>
              <a:t>Powered 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327648"/>
            <a:ext cx="11064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Source: Discovery.xlsx, Data sheet, resourceType = microsoft.offazure/vmwaresites/machines.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Aptos Display"/>
              </a:rPr>
              <a:t>VM Utilization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412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On-premises footprint compared with recommended Azure sizing; lower is better for capacity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170432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Aptos"/>
              </a:rPr>
              <a:t>On-premises footprint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90195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9019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91640"/>
            <a:ext cx="15910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E2761"/>
                </a:solidFill>
                <a:latin typeface="Aptos"/>
              </a:rPr>
              <a:t>1,472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67128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6454F"/>
                </a:solidFill>
                <a:latin typeface="Aptos"/>
              </a:rPr>
              <a:t>Assessed VMs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417320"/>
            <a:ext cx="190195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40" y="1417320"/>
            <a:ext cx="19019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1691640"/>
            <a:ext cx="15910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E2761"/>
                </a:solidFill>
                <a:latin typeface="Aptos"/>
              </a:rPr>
              <a:t>3.03 PB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2167128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6454F"/>
                </a:solidFill>
                <a:latin typeface="Aptos"/>
              </a:rPr>
              <a:t>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2478024"/>
            <a:ext cx="159105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48.8% Consumed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1417320"/>
            <a:ext cx="190195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9160" y="1417320"/>
            <a:ext cx="1901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8" y="1691640"/>
            <a:ext cx="15910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E2761"/>
                </a:solidFill>
                <a:latin typeface="Aptos"/>
              </a:rPr>
              <a:t>8,821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167128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6454F"/>
                </a:solidFill>
                <a:latin typeface="Aptos"/>
              </a:rPr>
              <a:t>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2478024"/>
            <a:ext cx="159105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48.9% CPU Utilization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80" y="1417320"/>
            <a:ext cx="190195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12280" y="1417320"/>
            <a:ext cx="1901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7728" y="1691640"/>
            <a:ext cx="15910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E2761"/>
                </a:solidFill>
                <a:latin typeface="Aptos"/>
              </a:rPr>
              <a:t>44.4 TB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2167128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6454F"/>
                </a:solidFill>
                <a:latin typeface="Aptos"/>
              </a:rPr>
              <a:t>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2478024"/>
            <a:ext cx="159105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32.9% Memory Utilization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621024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Aptos"/>
              </a:rPr>
              <a:t>Recommended Azure sizing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06040" y="3886200"/>
            <a:ext cx="190195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06040" y="3886200"/>
            <a:ext cx="19019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61488" y="4160520"/>
            <a:ext cx="15910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E2761"/>
                </a:solidFill>
                <a:latin typeface="Aptos"/>
              </a:rPr>
              <a:t>1.56 PB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4636008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6454F"/>
                </a:solidFill>
                <a:latin typeface="Aptos"/>
              </a:rPr>
              <a:t>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1488" y="4946904"/>
            <a:ext cx="159105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-48.5% vs on-prem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3886200"/>
            <a:ext cx="190195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60" y="3886200"/>
            <a:ext cx="1901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4608" y="4160520"/>
            <a:ext cx="15910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E2761"/>
                </a:solidFill>
                <a:latin typeface="Aptos"/>
              </a:rPr>
              <a:t>6,758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8" y="4636008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6454F"/>
                </a:solidFill>
                <a:latin typeface="Aptos"/>
              </a:rPr>
              <a:t>Cores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64608" y="4946904"/>
            <a:ext cx="159105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-23.4% vs on-prem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12280" y="3886200"/>
            <a:ext cx="190195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12280" y="3886200"/>
            <a:ext cx="190195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4160520"/>
            <a:ext cx="15910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E2761"/>
                </a:solidFill>
                <a:latin typeface="Aptos"/>
              </a:rPr>
              <a:t>37.3 TB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8" y="4636008"/>
            <a:ext cx="1591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36454F"/>
                </a:solidFill>
                <a:latin typeface="Aptos"/>
              </a:rPr>
              <a:t>Memory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4946904"/>
            <a:ext cx="159105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-16.0% vs on-prem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15400" y="1417320"/>
            <a:ext cx="310896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15400" y="1417320"/>
            <a:ext cx="310896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0" y="154533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Aptos"/>
              </a:rPr>
              <a:t>On-prem vs Azure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1920240"/>
            <a:ext cx="164592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08592" y="188366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36454F"/>
                </a:solidFill>
                <a:latin typeface="Aptos"/>
              </a:rPr>
              <a:t>On-prem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41280" y="1920240"/>
            <a:ext cx="164592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51592" y="188366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36454F"/>
                </a:solidFill>
                <a:latin typeface="Aptos"/>
              </a:rPr>
              <a:t>Azure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23774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Aptos"/>
              </a:rPr>
              <a:t>Storage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8280" y="2670048"/>
            <a:ext cx="16459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98280" y="2670048"/>
            <a:ext cx="1645920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789920" y="2642616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E2761"/>
                </a:solidFill>
                <a:latin typeface="Aptos"/>
              </a:rPr>
              <a:t>3.03 PB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98280" y="2980944"/>
            <a:ext cx="16459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98280" y="2980944"/>
            <a:ext cx="847942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89920" y="2953512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E2761"/>
                </a:solidFill>
                <a:latin typeface="Aptos"/>
              </a:rPr>
              <a:t>1.56 PB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330708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Aptos"/>
              </a:rPr>
              <a:t>Cores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98280" y="3599688"/>
            <a:ext cx="16459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98280" y="3599688"/>
            <a:ext cx="1645920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89920" y="3572256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E2761"/>
                </a:solidFill>
                <a:latin typeface="Aptos"/>
              </a:rPr>
              <a:t>8,821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98280" y="3910583"/>
            <a:ext cx="16459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98280" y="3910583"/>
            <a:ext cx="1260982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789920" y="3883151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E2761"/>
                </a:solidFill>
                <a:latin typeface="Aptos"/>
              </a:rPr>
              <a:t>6,758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98280" y="42367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Aptos"/>
              </a:rPr>
              <a:t>Memory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98280" y="4529328"/>
            <a:ext cx="16459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98280" y="4529328"/>
            <a:ext cx="1645920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789920" y="4501896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E2761"/>
                </a:solidFill>
                <a:latin typeface="Aptos"/>
              </a:rPr>
              <a:t>44.4 TB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98280" y="4840224"/>
            <a:ext cx="164592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98280" y="4840224"/>
            <a:ext cx="1382244" cy="2011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89920" y="4812791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E2761"/>
                </a:solidFill>
                <a:latin typeface="Aptos"/>
              </a:rPr>
              <a:t>37.3 TB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327648"/>
            <a:ext cx="11064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4748B"/>
                </a:solidFill>
                <a:latin typeface="Aptos"/>
              </a:rPr>
              <a:t>Source: Strategy_Lift_and_shift.xlsx, Server_to_AzureVM tab. Recommended storage, cores, and memory are compared to on-premises totals.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Aptos Display"/>
              </a:rPr>
              <a:t>Fileshares by Host OS Category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143000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143000"/>
            <a:ext cx="214884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417320"/>
            <a:ext cx="18379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1E2761"/>
                </a:solidFill>
                <a:latin typeface="Aptos"/>
              </a:rPr>
              <a:t>746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892807"/>
            <a:ext cx="1837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6454F"/>
                </a:solidFill>
                <a:latin typeface="Aptos"/>
              </a:rPr>
              <a:t>Total fileshares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38988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36454F"/>
                </a:solidFill>
                <a:latin typeface="Aptos"/>
              </a:rPr>
              <a:t>Windows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417320"/>
            <a:ext cx="621792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6217920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0" y="138988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E2761"/>
                </a:solidFill>
                <a:latin typeface="Aptos"/>
              </a:rPr>
              <a:t>743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682496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36454F"/>
                </a:solidFill>
                <a:latin typeface="Aptos"/>
              </a:rPr>
              <a:t>Linux / RHEL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709928"/>
            <a:ext cx="621792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709928"/>
            <a:ext cx="25106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168249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E2761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1975104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36454F"/>
                </a:solidFill>
                <a:latin typeface="Aptos"/>
              </a:rPr>
              <a:t>Other / Unknown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002536"/>
            <a:ext cx="621792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2002536"/>
            <a:ext cx="9144" cy="1371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1975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0" y="2971800"/>
            <a:ext cx="8412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45920" y="2971800"/>
            <a:ext cx="841248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3080" y="3099816"/>
            <a:ext cx="81381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Aptos"/>
              </a:rPr>
              <a:t>Fileshare count by host operating system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828800" y="3584448"/>
          <a:ext cx="8046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Host OS type</a:t>
                      </a:r>
                    </a:p>
                  </a:txBody>
                  <a:tcPr marL="36576" marR="36576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OS category</a:t>
                      </a:r>
                    </a:p>
                  </a:txBody>
                  <a:tcPr marL="36576" marR="36576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Fileshares</a:t>
                      </a:r>
                    </a:p>
                  </a:txBody>
                  <a:tcPr marL="36576" marR="36576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Share</a:t>
                      </a:r>
                    </a:p>
                  </a:txBody>
                  <a:tcPr marL="36576" marR="36576" marT="18288" marB="18288"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Windows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Windows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743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99.6%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Linux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RHEL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0.4%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746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100.0%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48640" y="6327648"/>
            <a:ext cx="11064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Aptos"/>
              </a:rPr>
              <a:t>Source: Discovery.xlsx, Data sheet. Fileshares are resourceType = microsoft.applicationmigration/storagesites/fileshares; OS is joined from host machine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Aptos Display"/>
              </a:rPr>
              <a:t>Database Resources by Type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143000"/>
            <a:ext cx="21488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143000"/>
            <a:ext cx="214884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417320"/>
            <a:ext cx="18379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1E2761"/>
                </a:solidFill>
                <a:latin typeface="Aptos"/>
              </a:rPr>
              <a:t>289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892807"/>
            <a:ext cx="18379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6454F"/>
                </a:solidFill>
                <a:latin typeface="Aptos"/>
              </a:rPr>
              <a:t>Total database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389888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36454F"/>
                </a:solidFill>
                <a:latin typeface="Aptos"/>
              </a:rPr>
              <a:t>SQL Server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08176"/>
            <a:ext cx="6355080" cy="1097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08176"/>
            <a:ext cx="6355080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35640" y="1389888"/>
            <a:ext cx="4114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Aptos"/>
              </a:rPr>
              <a:t>252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618488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36454F"/>
                </a:solidFill>
                <a:latin typeface="Aptos"/>
              </a:rPr>
              <a:t>MongoDB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36776"/>
            <a:ext cx="6355080" cy="1097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36776"/>
            <a:ext cx="479152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35640" y="1618488"/>
            <a:ext cx="4114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Aptos"/>
              </a:rP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1847088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36454F"/>
                </a:solidFill>
                <a:latin typeface="Aptos"/>
              </a:rPr>
              <a:t>MySQL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865376"/>
            <a:ext cx="6355080" cy="1097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865376"/>
            <a:ext cx="277404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35640" y="1847088"/>
            <a:ext cx="4114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Aptos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075688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36454F"/>
                </a:solidFill>
                <a:latin typeface="Aptos"/>
              </a:rPr>
              <a:t>PostgreSQL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093976"/>
            <a:ext cx="6355080" cy="1097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2093976"/>
            <a:ext cx="176530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35640" y="2075688"/>
            <a:ext cx="4114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Aptos"/>
              </a:rPr>
              <a:t>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45920" y="2971800"/>
            <a:ext cx="8412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45920" y="2971800"/>
            <a:ext cx="841248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3099816"/>
            <a:ext cx="81381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Aptos"/>
              </a:rPr>
              <a:t>Database count by type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1828800" y="3584448"/>
          <a:ext cx="78638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Database type</a:t>
                      </a:r>
                    </a:p>
                  </a:txBody>
                  <a:tcPr marL="36576" marR="36576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Count</a:t>
                      </a:r>
                    </a:p>
                  </a:txBody>
                  <a:tcPr marL="36576" marR="36576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Share</a:t>
                      </a:r>
                    </a:p>
                  </a:txBody>
                  <a:tcPr marL="36576" marR="36576" marT="18288" marB="18288"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SQL Server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252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87.2%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MongoDB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6.6%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MySQL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3.8%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PostgreSQL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2.4%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289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100.0%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6327648"/>
            <a:ext cx="11064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>
                <a:solidFill>
                  <a:srgbClr val="64748B"/>
                </a:solidFill>
                <a:latin typeface="Aptos"/>
              </a:rPr>
              <a:t>Source: Discovery.xlsx, Data sheet. Database rows identified from database-related values in resourceType.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Aptos Display"/>
              </a:rPr>
              <a:t>Non-SQL Database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412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Discovery footprint, support status, and PaaS readiness for MongoDB, MySQL, and PostgreSQL.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97280"/>
            <a:ext cx="53035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97280"/>
            <a:ext cx="530352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25295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Aptos"/>
              </a:rPr>
              <a:t>Discovery footprint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1572768"/>
            <a:ext cx="1078992" cy="2286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3704" y="1609344"/>
            <a:ext cx="96926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Instances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1572768"/>
            <a:ext cx="1078992" cy="2286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8416" y="1609344"/>
            <a:ext cx="96926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Servers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572768"/>
            <a:ext cx="1078992" cy="2286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609344"/>
            <a:ext cx="96926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Versions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83664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MongoDB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1847088"/>
            <a:ext cx="1078992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03704" y="1883664"/>
            <a:ext cx="9692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73552" y="1847088"/>
            <a:ext cx="1078992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28416" y="1883664"/>
            <a:ext cx="9692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19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1847088"/>
            <a:ext cx="1078992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1883664"/>
            <a:ext cx="9692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157984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MySQL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2121408"/>
            <a:ext cx="1078992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03704" y="2157984"/>
            <a:ext cx="9692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11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2121408"/>
            <a:ext cx="1078992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28416" y="2157984"/>
            <a:ext cx="9692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11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2121408"/>
            <a:ext cx="1078992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3128" y="2157984"/>
            <a:ext cx="9692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432304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PostgreSQL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48840" y="2395728"/>
            <a:ext cx="1078992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03704" y="2432304"/>
            <a:ext cx="9692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3552" y="2395728"/>
            <a:ext cx="1078992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28416" y="2432304"/>
            <a:ext cx="9692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98264" y="2395728"/>
            <a:ext cx="1078992" cy="228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53128" y="2432304"/>
            <a:ext cx="9692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2706624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Total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48840" y="2670048"/>
            <a:ext cx="1078992" cy="2286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03704" y="2706624"/>
            <a:ext cx="9692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73552" y="2670048"/>
            <a:ext cx="1078992" cy="2286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28416" y="2706624"/>
            <a:ext cx="9692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98264" y="2670048"/>
            <a:ext cx="1078992" cy="228600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53128" y="2706624"/>
            <a:ext cx="96926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1097280"/>
            <a:ext cx="539496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1097280"/>
            <a:ext cx="539496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1225295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Aptos"/>
              </a:rPr>
              <a:t>Support status by database type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8079" y="1572768"/>
            <a:ext cx="1197863" cy="228600"/>
          </a:xfrm>
          <a:prstGeom prst="round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1618488"/>
            <a:ext cx="1106423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Mainstream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32519" y="1572768"/>
            <a:ext cx="1197863" cy="2286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40" y="1618488"/>
            <a:ext cx="1106423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Out of support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66959" y="1572768"/>
            <a:ext cx="1197863" cy="22860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12680" y="1618488"/>
            <a:ext cx="1106423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Unknown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188366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MongoDB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98079" y="1847088"/>
            <a:ext cx="1197863" cy="228600"/>
          </a:xfrm>
          <a:prstGeom prst="roundRect">
            <a:avLst/>
          </a:prstGeom>
          <a:solidFill>
            <a:srgbClr val="CEE5C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43800" y="1883664"/>
            <a:ext cx="1106423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10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732519" y="1847088"/>
            <a:ext cx="1197863" cy="228600"/>
          </a:xfrm>
          <a:prstGeom prst="roundRect">
            <a:avLst/>
          </a:prstGeom>
          <a:solidFill>
            <a:srgbClr val="F7CFC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0" y="1883664"/>
            <a:ext cx="1106423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66959" y="1847088"/>
            <a:ext cx="1197863" cy="228600"/>
          </a:xfrm>
          <a:prstGeom prst="roundRect">
            <a:avLst/>
          </a:prstGeom>
          <a:solidFill>
            <a:srgbClr val="E7EA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12680" y="1883664"/>
            <a:ext cx="1106423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215798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MySQL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98079" y="2121408"/>
            <a:ext cx="1197863" cy="228600"/>
          </a:xfrm>
          <a:prstGeom prst="roundRect">
            <a:avLst/>
          </a:prstGeom>
          <a:solidFill>
            <a:srgbClr val="CEE5C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43800" y="2157984"/>
            <a:ext cx="1106423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732519" y="2121408"/>
            <a:ext cx="1197863" cy="228600"/>
          </a:xfrm>
          <a:prstGeom prst="roundRect">
            <a:avLst/>
          </a:prstGeom>
          <a:solidFill>
            <a:srgbClr val="F7CFC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78240" y="2157984"/>
            <a:ext cx="1106423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8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66959" y="2121408"/>
            <a:ext cx="1197863" cy="228600"/>
          </a:xfrm>
          <a:prstGeom prst="roundRect">
            <a:avLst/>
          </a:prstGeom>
          <a:solidFill>
            <a:srgbClr val="E7EA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12680" y="2157984"/>
            <a:ext cx="1106423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243230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PostgreSQL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498079" y="2395728"/>
            <a:ext cx="1197863" cy="228600"/>
          </a:xfrm>
          <a:prstGeom prst="roundRect">
            <a:avLst/>
          </a:prstGeom>
          <a:solidFill>
            <a:srgbClr val="CEE5C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43800" y="2432304"/>
            <a:ext cx="1106423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2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732519" y="2395728"/>
            <a:ext cx="1197863" cy="228600"/>
          </a:xfrm>
          <a:prstGeom prst="roundRect">
            <a:avLst/>
          </a:prstGeom>
          <a:solidFill>
            <a:srgbClr val="F7CFC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78240" y="2432304"/>
            <a:ext cx="1106423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2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966959" y="2395728"/>
            <a:ext cx="1197863" cy="228600"/>
          </a:xfrm>
          <a:prstGeom prst="roundRect">
            <a:avLst/>
          </a:prstGeom>
          <a:solidFill>
            <a:srgbClr val="E7EA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012680" y="2432304"/>
            <a:ext cx="1106423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0" y="270662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Total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498079" y="2670048"/>
            <a:ext cx="1197863" cy="228600"/>
          </a:xfrm>
          <a:prstGeom prst="roundRect">
            <a:avLst/>
          </a:prstGeom>
          <a:solidFill>
            <a:srgbClr val="228B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543800" y="2706624"/>
            <a:ext cx="1106423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732519" y="2670048"/>
            <a:ext cx="1197863" cy="22860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78240" y="2706624"/>
            <a:ext cx="1106423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966959" y="2670048"/>
            <a:ext cx="1197863" cy="228600"/>
          </a:xfrm>
          <a:prstGeom prst="roundRect">
            <a:avLst/>
          </a:prstGeom>
          <a:solidFill>
            <a:srgbClr val="94A3B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12680" y="2706624"/>
            <a:ext cx="1106423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4360" y="3154680"/>
            <a:ext cx="1097280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94360" y="3154680"/>
            <a:ext cx="109728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1520" y="328269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Aptos"/>
              </a:rPr>
              <a:t>PaaS readiness by database type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148840" y="3675887"/>
            <a:ext cx="2057400" cy="384048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40280" y="3749039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Unknown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279392" y="3675887"/>
            <a:ext cx="2057400" cy="384048"/>
          </a:xfrm>
          <a:prstGeom prst="round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70831" y="3749039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Ready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9944" y="3675887"/>
            <a:ext cx="2057400" cy="38404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01383" y="3749039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2761"/>
                </a:solidFill>
                <a:latin typeface="Aptos"/>
              </a:rPr>
              <a:t>Ready w/ conditions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540496" y="3675887"/>
            <a:ext cx="2057400" cy="38404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631936" y="3749039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Not ready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" y="416052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Aptos"/>
              </a:rPr>
              <a:t>MongoDB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148840" y="4114800"/>
            <a:ext cx="2057400" cy="384048"/>
          </a:xfrm>
          <a:prstGeom prst="roundRect">
            <a:avLst/>
          </a:prstGeom>
          <a:solidFill>
            <a:srgbClr val="E7EA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240280" y="419709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279392" y="4114800"/>
            <a:ext cx="2057400" cy="384048"/>
          </a:xfrm>
          <a:prstGeom prst="roundRect">
            <a:avLst/>
          </a:prstGeom>
          <a:solidFill>
            <a:srgbClr val="CEE5C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370831" y="419709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09944" y="4114800"/>
            <a:ext cx="2057400" cy="384048"/>
          </a:xfrm>
          <a:prstGeom prst="roundRect">
            <a:avLst/>
          </a:prstGeom>
          <a:solidFill>
            <a:srgbClr val="FAEEC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01383" y="419709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Aptos"/>
              </a:rPr>
              <a:t>19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540496" y="4114800"/>
            <a:ext cx="2057400" cy="384048"/>
          </a:xfrm>
          <a:prstGeom prst="roundRect">
            <a:avLst/>
          </a:prstGeom>
          <a:solidFill>
            <a:srgbClr val="F7CFC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631936" y="419709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8680" y="4599431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Aptos"/>
              </a:rPr>
              <a:t>MySQL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148840" y="4553712"/>
            <a:ext cx="2057400" cy="384048"/>
          </a:xfrm>
          <a:prstGeom prst="roundRect">
            <a:avLst/>
          </a:prstGeom>
          <a:solidFill>
            <a:srgbClr val="E7EA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240280" y="4636007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279392" y="4553712"/>
            <a:ext cx="2057400" cy="384048"/>
          </a:xfrm>
          <a:prstGeom prst="roundRect">
            <a:avLst/>
          </a:prstGeom>
          <a:solidFill>
            <a:srgbClr val="CEE5C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370831" y="4636007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409944" y="4553712"/>
            <a:ext cx="2057400" cy="384048"/>
          </a:xfrm>
          <a:prstGeom prst="roundRect">
            <a:avLst/>
          </a:prstGeom>
          <a:solidFill>
            <a:srgbClr val="FAEEC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501383" y="4636007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Aptos"/>
              </a:rPr>
              <a:t>11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540496" y="4553712"/>
            <a:ext cx="2057400" cy="384048"/>
          </a:xfrm>
          <a:prstGeom prst="roundRect">
            <a:avLst/>
          </a:prstGeom>
          <a:solidFill>
            <a:srgbClr val="F7CFC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31936" y="4636007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68680" y="5038343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Aptos"/>
              </a:rPr>
              <a:t>PostgreSQL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148840" y="4992623"/>
            <a:ext cx="2057400" cy="384048"/>
          </a:xfrm>
          <a:prstGeom prst="roundRect">
            <a:avLst/>
          </a:prstGeom>
          <a:solidFill>
            <a:srgbClr val="E7EA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240280" y="5074919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279392" y="4992623"/>
            <a:ext cx="2057400" cy="384048"/>
          </a:xfrm>
          <a:prstGeom prst="roundRect">
            <a:avLst/>
          </a:prstGeom>
          <a:solidFill>
            <a:srgbClr val="CEE5C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370831" y="5074919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409944" y="4992623"/>
            <a:ext cx="2057400" cy="384048"/>
          </a:xfrm>
          <a:prstGeom prst="roundRect">
            <a:avLst/>
          </a:prstGeom>
          <a:solidFill>
            <a:srgbClr val="FAEEC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501383" y="5074919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Aptos"/>
              </a:rPr>
              <a:t>7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540496" y="4992623"/>
            <a:ext cx="2057400" cy="384048"/>
          </a:xfrm>
          <a:prstGeom prst="roundRect">
            <a:avLst/>
          </a:prstGeom>
          <a:solidFill>
            <a:srgbClr val="F7CFC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631936" y="5074919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68680" y="5477255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Aptos"/>
              </a:rPr>
              <a:t>Total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148840" y="5431536"/>
            <a:ext cx="2057400" cy="384048"/>
          </a:xfrm>
          <a:prstGeom prst="roundRect">
            <a:avLst/>
          </a:prstGeom>
          <a:solidFill>
            <a:srgbClr val="94A3B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240280" y="5513831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279392" y="5431536"/>
            <a:ext cx="2057400" cy="384048"/>
          </a:xfrm>
          <a:prstGeom prst="roundRect">
            <a:avLst/>
          </a:prstGeom>
          <a:solidFill>
            <a:srgbClr val="228B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370831" y="5513831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409944" y="5431536"/>
            <a:ext cx="2057400" cy="384048"/>
          </a:xfrm>
          <a:prstGeom prst="roundRect">
            <a:avLst/>
          </a:prstGeom>
          <a:solidFill>
            <a:srgbClr val="EAB30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501383" y="5513831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Aptos"/>
              </a:rPr>
              <a:t>37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540496" y="5431536"/>
            <a:ext cx="2057400" cy="384048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631936" y="5513831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48640" y="6327648"/>
            <a:ext cx="11064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4748B"/>
                </a:solidFill>
                <a:latin typeface="Aptos"/>
              </a:rPr>
              <a:t>Sources: Discovery.xlsx Data sheet for instances, servers, versions, and directSupportStatus; Strategy_PaaS_Preferred.xlsx for PaaS readiness.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Aptos Display"/>
              </a:rPr>
              <a:t>SQL Readiness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21945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914400"/>
            <a:ext cx="219456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24128"/>
            <a:ext cx="19751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E2761"/>
                </a:solidFill>
                <a:latin typeface="Aptos"/>
              </a:rPr>
              <a:t>252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80160"/>
            <a:ext cx="197510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36454F"/>
                </a:solidFill>
                <a:latin typeface="Aptos"/>
              </a:rPr>
              <a:t>SQL Server Instances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914400"/>
            <a:ext cx="21945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914400"/>
            <a:ext cx="219456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1024128"/>
            <a:ext cx="19751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E2761"/>
                </a:solidFill>
                <a:latin typeface="Aptos"/>
              </a:rPr>
              <a:t>245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1280160"/>
            <a:ext cx="197510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36454F"/>
                </a:solidFill>
                <a:latin typeface="Aptos"/>
              </a:rPr>
              <a:t>Servers running 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914400"/>
            <a:ext cx="21945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66360" y="914400"/>
            <a:ext cx="219456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6088" y="1024128"/>
            <a:ext cx="197510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E2761"/>
                </a:solidFill>
                <a:latin typeface="Aptos"/>
              </a:rPr>
              <a:t>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1280160"/>
            <a:ext cx="1975104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36454F"/>
                </a:solidFill>
                <a:latin typeface="Aptos"/>
              </a:rPr>
              <a:t>SQL-only servers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874519"/>
            <a:ext cx="58521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874519"/>
            <a:ext cx="585216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00253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Aptos"/>
              </a:rPr>
              <a:t>SQL Server versions by support 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276856"/>
            <a:ext cx="128016" cy="9144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240279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36454F"/>
                </a:solidFill>
                <a:latin typeface="Aptos"/>
              </a:rPr>
              <a:t>Mainstream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2276856"/>
            <a:ext cx="128016" cy="91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2240279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36454F"/>
                </a:solidFill>
                <a:latin typeface="Aptos"/>
              </a:rPr>
              <a:t>Extended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276856"/>
            <a:ext cx="128016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2240279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36454F"/>
                </a:solidFill>
                <a:latin typeface="Aptos"/>
              </a:rPr>
              <a:t>Out of support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276856"/>
            <a:ext cx="128016" cy="914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240279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36454F"/>
                </a:solidFill>
                <a:latin typeface="Aptos"/>
              </a:rPr>
              <a:t>Unknown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688335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6454F"/>
                </a:solidFill>
                <a:latin typeface="Aptos"/>
              </a:rPr>
              <a:t>SQL Server 2019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2651759"/>
            <a:ext cx="27889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03120" y="2651759"/>
            <a:ext cx="2788920" cy="4572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65192" y="2688335"/>
            <a:ext cx="868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Aptos"/>
              </a:rPr>
              <a:t>111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236975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6454F"/>
                </a:solidFill>
                <a:latin typeface="Aptos"/>
              </a:rPr>
              <a:t>SQL Server 2022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3200399"/>
            <a:ext cx="27889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03120" y="3200399"/>
            <a:ext cx="1381897" cy="45720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65192" y="3236975"/>
            <a:ext cx="868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Aptos"/>
              </a:rPr>
              <a:t>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785615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6454F"/>
                </a:solidFill>
                <a:latin typeface="Aptos"/>
              </a:rPr>
              <a:t>SQL Server 2016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03120" y="3749039"/>
            <a:ext cx="27889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103120" y="3749039"/>
            <a:ext cx="1306521" cy="4572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65192" y="3785615"/>
            <a:ext cx="868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Aptos"/>
              </a:rPr>
              <a:t>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334255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6454F"/>
                </a:solidFill>
                <a:latin typeface="Aptos"/>
              </a:rPr>
              <a:t>SQL Server 2017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4297679"/>
            <a:ext cx="27889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103120" y="4297679"/>
            <a:ext cx="577884" cy="4572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65192" y="4334255"/>
            <a:ext cx="868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Aptos"/>
              </a:rPr>
              <a:t>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882896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6454F"/>
                </a:solidFill>
                <a:latin typeface="Aptos"/>
              </a:rPr>
              <a:t>17.0.1000.7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0" y="4846320"/>
            <a:ext cx="27889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103120" y="4846320"/>
            <a:ext cx="201003" cy="457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65192" y="4882896"/>
            <a:ext cx="868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Aptos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431536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6454F"/>
                </a:solidFill>
                <a:latin typeface="Aptos"/>
              </a:rPr>
              <a:t>SQL Server 2014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03120" y="5394959"/>
            <a:ext cx="27889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103120" y="5394959"/>
            <a:ext cx="75376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65192" y="5431536"/>
            <a:ext cx="868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Aptos"/>
              </a:rPr>
              <a:t>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1874519"/>
            <a:ext cx="5257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1874519"/>
            <a:ext cx="52578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29400" y="200253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Aptos"/>
              </a:rPr>
              <a:t>SQL Readiness by Target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2240279"/>
            <a:ext cx="146304" cy="100584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0" y="21945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6454F"/>
                </a:solidFill>
                <a:latin typeface="Aptos"/>
              </a:rPr>
              <a:t>SQL VM Instances (8)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0" y="2240279"/>
            <a:ext cx="146304" cy="10058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26880" y="219456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6454F"/>
                </a:solidFill>
                <a:latin typeface="Aptos"/>
              </a:rPr>
              <a:t>SQL MI Instances (244)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0" y="2560320"/>
            <a:ext cx="461772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858000" y="5646420"/>
            <a:ext cx="461772" cy="11430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356348" y="2560320"/>
            <a:ext cx="461772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56348" y="5474970"/>
            <a:ext cx="461772" cy="2857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84848" y="5463540"/>
            <a:ext cx="6080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E2761"/>
                </a:solidFill>
                <a:latin typeface="Aptos"/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83196" y="5292090"/>
            <a:ext cx="6080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E2761"/>
                </a:solidFill>
                <a:latin typeface="Aptos"/>
              </a:rPr>
              <a:t>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20840" y="57972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28B22"/>
                </a:solidFill>
                <a:latin typeface="Aptos"/>
              </a:rPr>
              <a:t>Ready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92440" y="2560320"/>
            <a:ext cx="461772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92440" y="5742432"/>
            <a:ext cx="461772" cy="1828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590788" y="2560320"/>
            <a:ext cx="461772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590788" y="5742432"/>
            <a:ext cx="461772" cy="182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19288" y="5559552"/>
            <a:ext cx="6080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17636" y="5559552"/>
            <a:ext cx="6080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55279" y="57972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C2626"/>
                </a:solidFill>
                <a:latin typeface="Aptos"/>
              </a:rPr>
              <a:t>Not Ready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26880" y="2560320"/>
            <a:ext cx="461772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326880" y="5742432"/>
            <a:ext cx="461772" cy="1828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825228" y="2560320"/>
            <a:ext cx="461772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825228" y="2560320"/>
            <a:ext cx="461772" cy="3200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53728" y="5559552"/>
            <a:ext cx="6080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52076" y="2377439"/>
            <a:ext cx="6080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E2761"/>
                </a:solidFill>
                <a:latin typeface="Aptos"/>
              </a:rPr>
              <a:t>224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98280" y="5797296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EAB308"/>
                </a:solidFill>
                <a:latin typeface="Aptos"/>
              </a:rPr>
              <a:t>Ready w/ Conditions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61320" y="2560320"/>
            <a:ext cx="461772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561320" y="5742432"/>
            <a:ext cx="461772" cy="1828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1059668" y="2560320"/>
            <a:ext cx="461772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1059668" y="5742432"/>
            <a:ext cx="461772" cy="182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488168" y="5559552"/>
            <a:ext cx="6080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86516" y="5559552"/>
            <a:ext cx="6080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24160" y="57972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94A3B8"/>
                </a:solidFill>
                <a:latin typeface="Aptos"/>
              </a:rPr>
              <a:t>Unknown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327648"/>
            <a:ext cx="11064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4748B"/>
                </a:solidFill>
                <a:latin typeface="Aptos"/>
              </a:rPr>
              <a:t>Sources: Discovery.xlsx Data (SQL instances &amp; versions); Strategy_PaaS_Preferred.xlsx SQLinstance_to_AzureSQLVM (AZURE_SQL_VM_READINESS + AZURE_SQL_VM_COMPUTE/STORAGE_MONTHLY_COST_USD) and SQLinstance_to_AzureSQLMI (AZURE_SQL_MI_READINESS + AZURE_SQL_MI_COMPUTE/STORAGE_MONTHLY_COST_USD); Strategy_Lift_and_shift.xlsx Server_to_AzureVM (TOTAL_MONTHLY_COST_USD for servers in either SQL sheet, deduplicated).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Aptos Display"/>
              </a:rPr>
              <a:t>SQL Cost and Licensing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51560"/>
            <a:ext cx="11247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24712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957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Aptos"/>
              </a:rPr>
              <a:t>SQL Server licenses owned (from EA export)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35607"/>
            <a:ext cx="53949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35607"/>
            <a:ext cx="54864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54479"/>
            <a:ext cx="24277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E2761"/>
                </a:solidFill>
                <a:latin typeface="Aptos"/>
              </a:rPr>
              <a:t>SQL Server Enterprise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9660" y="1554479"/>
            <a:ext cx="13341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Aptos"/>
              </a:rPr>
              <a:t>Licenses: 136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3770" y="1554479"/>
            <a:ext cx="13341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Aptos"/>
              </a:rPr>
              <a:t>Cores: 272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35607"/>
            <a:ext cx="53949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35607"/>
            <a:ext cx="54864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79"/>
            <a:ext cx="24277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E2761"/>
                </a:solidFill>
                <a:latin typeface="Aptos"/>
              </a:rPr>
              <a:t>SQL Server 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7500" y="1554479"/>
            <a:ext cx="13341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Aptos"/>
              </a:rPr>
              <a:t>Licenses: 652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1610" y="1554479"/>
            <a:ext cx="133410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Aptos"/>
              </a:rPr>
              <a:t>Cores: 1,304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94560"/>
            <a:ext cx="112471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194560"/>
            <a:ext cx="1124712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32257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E2761"/>
                </a:solidFill>
                <a:latin typeface="Aptos"/>
              </a:rPr>
              <a:t>Lift &amp; Shift vs SQL MI (where ready) + Lift &amp; Shift remainder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651760"/>
            <a:ext cx="5372100" cy="2880360"/>
          </a:xfrm>
          <a:prstGeom prst="roundRect">
            <a:avLst/>
          </a:prstGeom>
          <a:solidFill>
            <a:srgbClr val="DCFCE7"/>
          </a:solidFill>
          <a:ln w="17780"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651760"/>
            <a:ext cx="5372100" cy="45720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2779776"/>
            <a:ext cx="50429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E2761"/>
                </a:solidFill>
                <a:latin typeface="Aptos"/>
              </a:rPr>
              <a:t>100% Lift &amp; Shift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3054096"/>
            <a:ext cx="50429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28B22"/>
                </a:solidFill>
                <a:latin typeface="Aptos"/>
              </a:rPr>
              <a:t>$80.7K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3401568"/>
            <a:ext cx="50429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ptos"/>
              </a:rPr>
              <a:t>245 VMs / 0 SQL MI   |   $968,154/yr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7" y="3712464"/>
            <a:ext cx="2439162" cy="420624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399" y="3767328"/>
            <a:ext cx="2292858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50" b="1">
                <a:solidFill>
                  <a:srgbClr val="64748B"/>
                </a:solidFill>
                <a:latin typeface="Aptos"/>
              </a:rPr>
              <a:t>NUMBER OF VMS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399" y="3913632"/>
            <a:ext cx="229285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E2761"/>
                </a:solidFill>
                <a:latin typeface="Aptos"/>
              </a:rPr>
              <a:t>245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1850" y="3712464"/>
            <a:ext cx="2439162" cy="420624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45002" y="3767328"/>
            <a:ext cx="2292858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50" b="1">
                <a:solidFill>
                  <a:srgbClr val="64748B"/>
                </a:solidFill>
                <a:latin typeface="Aptos"/>
              </a:rPr>
              <a:t>CORES VS ON-PREM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5002" y="3913632"/>
            <a:ext cx="229285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E2761"/>
                </a:solidFill>
                <a:latin typeface="Aptos"/>
              </a:rPr>
              <a:t>1,744 vs 1,721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7" y="4224528"/>
            <a:ext cx="2439162" cy="420624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399" y="4279392"/>
            <a:ext cx="2292858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50" b="1">
                <a:solidFill>
                  <a:srgbClr val="64748B"/>
                </a:solidFill>
                <a:latin typeface="Aptos"/>
              </a:rPr>
              <a:t>MEMORY VS ON-PREM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399" y="4425696"/>
            <a:ext cx="229285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E2761"/>
                </a:solidFill>
                <a:latin typeface="Aptos"/>
              </a:rPr>
              <a:t>10.8 TB vs 16.7 TB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71850" y="4224528"/>
            <a:ext cx="2439162" cy="420624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45002" y="4279392"/>
            <a:ext cx="2292858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50" b="1">
                <a:solidFill>
                  <a:srgbClr val="64748B"/>
                </a:solidFill>
                <a:latin typeface="Aptos"/>
              </a:rPr>
              <a:t>STORAGE VS ON-PREM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45002" y="4425696"/>
            <a:ext cx="229285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E2761"/>
                </a:solidFill>
                <a:latin typeface="Aptos"/>
              </a:rPr>
              <a:t>341.93 TB vs 1069.50 TB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4700016"/>
            <a:ext cx="496976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Aptos"/>
              </a:rPr>
              <a:t>Recommended cores by SQL edition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7" y="4919472"/>
            <a:ext cx="1601724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" y="4974336"/>
            <a:ext cx="15102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522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" y="5138928"/>
            <a:ext cx="151028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64748B"/>
                </a:solidFill>
                <a:latin typeface="Aptos"/>
              </a:rPr>
              <a:t>Enterprise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25268" y="4919472"/>
            <a:ext cx="1601724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70988" y="4974336"/>
            <a:ext cx="15102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858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70988" y="5138928"/>
            <a:ext cx="151028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64748B"/>
                </a:solidFill>
                <a:latin typeface="Aptos"/>
              </a:rPr>
              <a:t>Standard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9288" y="4919472"/>
            <a:ext cx="1601724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5008" y="4974336"/>
            <a:ext cx="15102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E2761"/>
                </a:solidFill>
                <a:latin typeface="Aptos"/>
              </a:rPr>
              <a:t>364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5008" y="5138928"/>
            <a:ext cx="1510284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64748B"/>
                </a:solidFill>
                <a:latin typeface="Aptos"/>
              </a:rPr>
              <a:t>Developer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40780" y="2651760"/>
            <a:ext cx="537210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40780" y="2651760"/>
            <a:ext cx="53721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5372" y="2779776"/>
            <a:ext cx="50429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E2761"/>
                </a:solidFill>
                <a:latin typeface="Aptos"/>
              </a:rPr>
              <a:t>SQL MI (where ready) + Lift &amp; Shift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5372" y="3054096"/>
            <a:ext cx="50429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E2761"/>
                </a:solidFill>
                <a:latin typeface="Aptos"/>
              </a:rPr>
              <a:t>$156.7K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5372" y="3401568"/>
            <a:ext cx="504291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ptos"/>
              </a:rPr>
              <a:t>8 VMs / 244 SQL MI   |   $1,879,978/yr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Aptos Display"/>
              </a:rPr>
              <a:t>WebApp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412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Discovery web application footprint, support status, and AKS readiness by web app type.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24128"/>
            <a:ext cx="111099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0996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52144"/>
            <a:ext cx="10835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Aptos"/>
              </a:rPr>
              <a:t>WebApps and hosting servers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1627632"/>
            <a:ext cx="2423160" cy="310896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1691640"/>
            <a:ext cx="22402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WebApps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45152" y="1627632"/>
            <a:ext cx="2423160" cy="310896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691640"/>
            <a:ext cx="22402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Server 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41464" y="1627632"/>
            <a:ext cx="2423160" cy="31089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1691640"/>
            <a:ext cx="22402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Dedicated WebApp Servers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08483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IIS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2011680"/>
            <a:ext cx="2423160" cy="31089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2084832"/>
            <a:ext cx="224027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Aptos"/>
              </a:rPr>
              <a:t>866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45152" y="2011680"/>
            <a:ext cx="2423160" cy="31089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2084832"/>
            <a:ext cx="224027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Aptos"/>
              </a:rPr>
              <a:t>681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41464" y="2011680"/>
            <a:ext cx="2423160" cy="31089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2904" y="2084832"/>
            <a:ext cx="224027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Aptos"/>
              </a:rPr>
              <a:t>475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46888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Tomcat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2395728"/>
            <a:ext cx="2423160" cy="31089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80" y="2468880"/>
            <a:ext cx="224027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Aptos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45152" y="2395728"/>
            <a:ext cx="2423160" cy="31089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6592" y="2468880"/>
            <a:ext cx="224027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Aptos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41464" y="2395728"/>
            <a:ext cx="2423160" cy="31089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2904" y="2468880"/>
            <a:ext cx="224027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2852928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1E2761"/>
                </a:solidFill>
                <a:latin typeface="Aptos"/>
              </a:rPr>
              <a:t>Total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48840" y="2779776"/>
            <a:ext cx="2423160" cy="310896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0280" y="2852928"/>
            <a:ext cx="224027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870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45152" y="2779776"/>
            <a:ext cx="2423160" cy="310896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2" y="2852928"/>
            <a:ext cx="224027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683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41464" y="2779776"/>
            <a:ext cx="2423160" cy="310896"/>
          </a:xfrm>
          <a:prstGeom prst="round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852928"/>
            <a:ext cx="2240279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475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675887"/>
            <a:ext cx="544068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3675887"/>
            <a:ext cx="544068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803903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Aptos"/>
              </a:rPr>
              <a:t>Support Status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2148840" y="4343400"/>
          <a:ext cx="3383280" cy="1225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188720"/>
              </a:tblGrid>
              <a:tr h="3063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IIS</a:t>
                      </a:r>
                    </a:p>
                  </a:txBody>
                  <a:tcPr marL="36576" marR="36576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Tomcat</a:t>
                      </a:r>
                    </a:p>
                  </a:txBody>
                  <a:tcPr marL="36576" marR="36576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18288" marB="18288">
                    <a:solidFill>
                      <a:srgbClr val="1E2761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755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759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18288" marB="18288">
                    <a:solidFill>
                      <a:srgbClr val="F1F5F9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84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  <a:latin typeface="Aptos"/>
                        </a:defRPr>
                      </a:pPr>
                      <a:r>
                        <a:t>84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Rounded Rectangle 37"/>
          <p:cNvSpPr/>
          <p:nvPr/>
        </p:nvSpPr>
        <p:spPr>
          <a:xfrm>
            <a:off x="749808" y="4649724"/>
            <a:ext cx="1234440" cy="278892"/>
          </a:xfrm>
          <a:prstGeom prst="round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" y="4722876"/>
            <a:ext cx="108813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Mainstream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8" y="4956048"/>
            <a:ext cx="1234440" cy="27889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5029200"/>
            <a:ext cx="108813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Out of support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9808" y="5262372"/>
            <a:ext cx="1234440" cy="278892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" y="5335524"/>
            <a:ext cx="108813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Unknown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3675887"/>
            <a:ext cx="544068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200" y="3675887"/>
            <a:ext cx="544068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3803903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Aptos"/>
              </a:rPr>
              <a:t>Readiness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34071" y="4270248"/>
            <a:ext cx="925830" cy="310896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70647" y="4343400"/>
            <a:ext cx="85267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Unknown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05622" y="4270248"/>
            <a:ext cx="925830" cy="310896"/>
          </a:xfrm>
          <a:prstGeom prst="round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42197" y="4343400"/>
            <a:ext cx="85267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Ready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77172" y="4270248"/>
            <a:ext cx="925830" cy="310896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13747" y="4343400"/>
            <a:ext cx="85267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E2761"/>
                </a:solidFill>
                <a:latin typeface="Aptos"/>
              </a:rPr>
              <a:t>Ready w/ conditions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48722" y="4270248"/>
            <a:ext cx="925830" cy="31089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85297" y="4343400"/>
            <a:ext cx="85267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Not Ready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73368" y="4727448"/>
            <a:ext cx="86868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E2761"/>
                </a:solidFill>
                <a:latin typeface="Aptos"/>
              </a:rPr>
              <a:t>IIS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34071" y="4654296"/>
            <a:ext cx="925830" cy="310896"/>
          </a:xfrm>
          <a:prstGeom prst="roundRect">
            <a:avLst/>
          </a:prstGeom>
          <a:solidFill>
            <a:srgbClr val="E7EA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70647" y="4727448"/>
            <a:ext cx="85267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405622" y="4654296"/>
            <a:ext cx="925830" cy="310896"/>
          </a:xfrm>
          <a:prstGeom prst="roundRect">
            <a:avLst/>
          </a:prstGeom>
          <a:solidFill>
            <a:srgbClr val="CEE5C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42197" y="4727448"/>
            <a:ext cx="85267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377172" y="4654296"/>
            <a:ext cx="925830" cy="310896"/>
          </a:xfrm>
          <a:prstGeom prst="roundRect">
            <a:avLst/>
          </a:prstGeom>
          <a:solidFill>
            <a:srgbClr val="FAEEC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13747" y="4727448"/>
            <a:ext cx="85267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402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348722" y="4654296"/>
            <a:ext cx="925830" cy="310896"/>
          </a:xfrm>
          <a:prstGeom prst="roundRect">
            <a:avLst/>
          </a:prstGeom>
          <a:solidFill>
            <a:srgbClr val="F7CFC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85297" y="4727448"/>
            <a:ext cx="85267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73368" y="5111496"/>
            <a:ext cx="86868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E2761"/>
                </a:solidFill>
                <a:latin typeface="Aptos"/>
              </a:rPr>
              <a:t>Tomcat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434071" y="5038344"/>
            <a:ext cx="925830" cy="310896"/>
          </a:xfrm>
          <a:prstGeom prst="roundRect">
            <a:avLst/>
          </a:prstGeom>
          <a:solidFill>
            <a:srgbClr val="E7EA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70647" y="5111496"/>
            <a:ext cx="85267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405622" y="5038344"/>
            <a:ext cx="925830" cy="310896"/>
          </a:xfrm>
          <a:prstGeom prst="roundRect">
            <a:avLst/>
          </a:prstGeom>
          <a:solidFill>
            <a:srgbClr val="CEE5C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42197" y="5111496"/>
            <a:ext cx="85267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377172" y="5038344"/>
            <a:ext cx="925830" cy="310896"/>
          </a:xfrm>
          <a:prstGeom prst="roundRect">
            <a:avLst/>
          </a:prstGeom>
          <a:solidFill>
            <a:srgbClr val="FAEEC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413747" y="5111496"/>
            <a:ext cx="85267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348722" y="5038344"/>
            <a:ext cx="925830" cy="310896"/>
          </a:xfrm>
          <a:prstGeom prst="roundRect">
            <a:avLst/>
          </a:prstGeom>
          <a:solidFill>
            <a:srgbClr val="F7CFC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385297" y="5111496"/>
            <a:ext cx="85267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73368" y="5495544"/>
            <a:ext cx="86868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E2761"/>
                </a:solidFill>
                <a:latin typeface="Aptos"/>
              </a:rPr>
              <a:t>Total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434071" y="5422392"/>
            <a:ext cx="925830" cy="310896"/>
          </a:xfrm>
          <a:prstGeom prst="roundRect">
            <a:avLst/>
          </a:prstGeom>
          <a:solidFill>
            <a:srgbClr val="94A3B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70647" y="5495544"/>
            <a:ext cx="85267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405622" y="5422392"/>
            <a:ext cx="925830" cy="310896"/>
          </a:xfrm>
          <a:prstGeom prst="roundRect">
            <a:avLst/>
          </a:prstGeom>
          <a:solidFill>
            <a:srgbClr val="228B2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42197" y="5495544"/>
            <a:ext cx="85267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377172" y="5422392"/>
            <a:ext cx="925830" cy="310896"/>
          </a:xfrm>
          <a:prstGeom prst="roundRect">
            <a:avLst/>
          </a:prstGeom>
          <a:solidFill>
            <a:srgbClr val="EAB30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413747" y="5495544"/>
            <a:ext cx="85267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E2761"/>
                </a:solidFill>
                <a:latin typeface="Aptos"/>
              </a:rPr>
              <a:t>402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348722" y="5422392"/>
            <a:ext cx="925830" cy="310896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385297" y="5495544"/>
            <a:ext cx="85267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6327648"/>
            <a:ext cx="11064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 b="0">
                <a:solidFill>
                  <a:srgbClr val="64748B"/>
                </a:solidFill>
                <a:latin typeface="Aptos"/>
              </a:rPr>
              <a:t>Sources: Discovery.xlsx Data sheet for resourceType, parentResourceName, and directSupportStatus; Strategy_PaaS_Preferred.xlsx WebApp_to_AKS for READINESS.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